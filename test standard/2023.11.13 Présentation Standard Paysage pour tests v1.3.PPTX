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</p:sldMasterIdLst>
  <p:notesMasterIdLst>
    <p:notesMasterId r:id="rId35"/>
  </p:notesMasterIdLst>
  <p:sldIdLst>
    <p:sldId id="494" r:id="rId3"/>
    <p:sldId id="332" r:id="rId4"/>
    <p:sldId id="459" r:id="rId5"/>
    <p:sldId id="317" r:id="rId6"/>
    <p:sldId id="315" r:id="rId7"/>
    <p:sldId id="495" r:id="rId8"/>
    <p:sldId id="467" r:id="rId9"/>
    <p:sldId id="472" r:id="rId10"/>
    <p:sldId id="474" r:id="rId11"/>
    <p:sldId id="475" r:id="rId12"/>
    <p:sldId id="476" r:id="rId13"/>
    <p:sldId id="478" r:id="rId14"/>
    <p:sldId id="343" r:id="rId15"/>
    <p:sldId id="468" r:id="rId16"/>
    <p:sldId id="479" r:id="rId17"/>
    <p:sldId id="480" r:id="rId18"/>
    <p:sldId id="481" r:id="rId19"/>
    <p:sldId id="348" r:id="rId20"/>
    <p:sldId id="482" r:id="rId21"/>
    <p:sldId id="483" r:id="rId22"/>
    <p:sldId id="484" r:id="rId23"/>
    <p:sldId id="485" r:id="rId24"/>
    <p:sldId id="486" r:id="rId25"/>
    <p:sldId id="487" r:id="rId26"/>
    <p:sldId id="488" r:id="rId27"/>
    <p:sldId id="492" r:id="rId28"/>
    <p:sldId id="493" r:id="rId29"/>
    <p:sldId id="489" r:id="rId30"/>
    <p:sldId id="496" r:id="rId31"/>
    <p:sldId id="497" r:id="rId32"/>
    <p:sldId id="490" r:id="rId33"/>
    <p:sldId id="275" r:id="rId34"/>
  </p:sldIdLst>
  <p:sldSz cx="9144000" cy="6858000" type="screen4x3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minique Laurent" initials="DL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CAE"/>
    <a:srgbClr val="B0DD7F"/>
    <a:srgbClr val="CCFF66"/>
    <a:srgbClr val="AF5C29"/>
    <a:srgbClr val="8E4075"/>
    <a:srgbClr val="34B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78" d="100"/>
          <a:sy n="78" d="100"/>
        </p:scale>
        <p:origin x="-1782" y="-24"/>
      </p:cViewPr>
      <p:guideLst>
        <p:guide orient="horz" pos="216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9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B25C655-47BF-4199-800E-24E0F499F351}" type="datetimeFigureOut">
              <a:rPr lang="fr-FR" smtClean="0"/>
              <a:t>16/11/2023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4E151122-14CA-4C1F-AE70-0EA5D3EF8DC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162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709930" y="4861441"/>
            <a:ext cx="5679067" cy="4605173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fr-FR" sz="2200" spc="-1">
              <a:latin typeface="Arial"/>
            </a:endParaRPr>
          </a:p>
        </p:txBody>
      </p:sp>
      <p:sp>
        <p:nvSpPr>
          <p:cNvPr id="687" name="TextShape 3"/>
          <p:cNvSpPr txBox="1"/>
          <p:nvPr/>
        </p:nvSpPr>
        <p:spPr>
          <a:xfrm>
            <a:off x="4021446" y="9721270"/>
            <a:ext cx="3075991" cy="511328"/>
          </a:xfrm>
          <a:prstGeom prst="rect">
            <a:avLst/>
          </a:prstGeom>
          <a:noFill/>
          <a:ln w="0">
            <a:noFill/>
          </a:ln>
        </p:spPr>
        <p:txBody>
          <a:bodyPr lIns="99048" tIns="49524" rIns="99048" bIns="49524" anchor="b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33F205E-D101-4048-8587-48B5915E5739}" type="slidenum">
              <a:rPr kumimoji="0" lang="fr-FR" sz="1300" b="0" i="0" u="none" strike="noStrike" kern="1200" cap="none" spc="-1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DejaVu Sans"/>
                <a:cs typeface="DejaVu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3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512336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18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AEEF0D1B-EC1E-4D9C-9E89-5EE1F194BCC8}" type="datetime1">
              <a:rPr lang="fr-FR" smtClean="0"/>
              <a:t>16/11/2023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720000" y="5226530"/>
            <a:ext cx="3240000" cy="1199999"/>
          </a:xfrm>
        </p:spPr>
        <p:txBody>
          <a:bodyPr anchor="b" anchorCtr="0"/>
          <a:lstStyle>
            <a:lvl1pPr>
              <a:defRPr sz="1150"/>
            </a:lvl1pPr>
          </a:lstStyle>
          <a:p>
            <a:r>
              <a:rPr lang="fr-FR" smtClean="0"/>
              <a:t>DGALN/IGN</a:t>
            </a:r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18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E7B240D4-81E3-4155-9DC4-ECF57F96C7ED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1"/>
            <a:ext cx="18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40000" y="479999"/>
            <a:ext cx="2700000" cy="3600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864" y="634471"/>
            <a:ext cx="2736304" cy="16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1"/>
            <a:ext cx="18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1107878-4187-45A4-A84E-0FDF2CF92DFF}" type="datetime1">
              <a:rPr lang="fr-FR" smtClean="0"/>
              <a:t>16/11/2023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fr-FR" smtClean="0"/>
              <a:t>DGALN/IGN</a:t>
            </a:r>
            <a:endParaRPr lang="fr-FR" dirty="0" smtClean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7B240D4-81E3-4155-9DC4-ECF57F96C7ED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3128060"/>
            <a:ext cx="8424000" cy="2769601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 smtClean="0"/>
              <a:t>Titre</a:t>
            </a:r>
          </a:p>
          <a:p>
            <a:pPr lvl="1"/>
            <a:r>
              <a:rPr lang="fr-FR" dirty="0" smtClean="0"/>
              <a:t>Sous-titre</a:t>
            </a:r>
          </a:p>
        </p:txBody>
      </p:sp>
      <p:cxnSp>
        <p:nvCxnSpPr>
          <p:cNvPr id="12" name="Connecteur droit 11"/>
          <p:cNvCxnSpPr/>
          <p:nvPr/>
        </p:nvCxnSpPr>
        <p:spPr bwMode="gray">
          <a:xfrm>
            <a:off x="360000" y="6379199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0000" y="240001"/>
            <a:ext cx="1440000" cy="1919999"/>
          </a:xfrm>
          <a:prstGeom prst="rect">
            <a:avLst/>
          </a:prstGeom>
        </p:spPr>
      </p:pic>
      <p:pic>
        <p:nvPicPr>
          <p:cNvPr id="72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771" y="372799"/>
            <a:ext cx="2736304" cy="16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1200000"/>
            <a:ext cx="8424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6EC35D15-B548-4DCA-AEB6-520F07A22C7D}" type="datetime1">
              <a:rPr lang="fr-FR" smtClean="0"/>
              <a:t>16/11/2023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smtClean="0"/>
              <a:t>DGALN/IGN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7B240D4-81E3-4155-9DC4-ECF57F96C7ED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2522624"/>
            <a:ext cx="2520000" cy="337440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12000" y="2524799"/>
            <a:ext cx="2520000" cy="337440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63999" y="2524799"/>
            <a:ext cx="2520000" cy="3374401"/>
          </a:xfrm>
        </p:spPr>
        <p:txBody>
          <a:bodyPr/>
          <a:lstStyle>
            <a:lvl1pPr marL="144000" indent="-144000">
              <a:spcBef>
                <a:spcPts val="400"/>
              </a:spcBef>
              <a:spcAft>
                <a:spcPts val="800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24000" indent="-144000">
              <a:spcBef>
                <a:spcPts val="600"/>
              </a:spcBef>
              <a:spcAft>
                <a:spcPts val="800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1"/>
            <a:ext cx="9144000" cy="5875199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 smtClean="0"/>
              <a:t>Sélectionner l’icône pour insérer une image, </a:t>
            </a:r>
            <a:br>
              <a:rPr lang="fr-FR" dirty="0" smtClean="0"/>
            </a:br>
            <a:r>
              <a:rPr lang="fr-FR" dirty="0" smtClean="0"/>
              <a:t>puis disposer l’image en arrière plan </a:t>
            </a:r>
            <a:br>
              <a:rPr lang="fr-FR" dirty="0" smtClean="0"/>
            </a:br>
            <a:r>
              <a:rPr lang="fr-FR" dirty="0" smtClean="0"/>
              <a:t>(Sélectionner l’image avec le bouton droit de la souris / </a:t>
            </a:r>
            <a:br>
              <a:rPr lang="fr-FR" dirty="0" smtClean="0"/>
            </a:br>
            <a:r>
              <a:rPr lang="fr-FR" dirty="0" smtClean="0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84000"/>
            <a:ext cx="8424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396000" indent="-396000">
              <a:buFont typeface="+mj-lt"/>
              <a:buAutoNum type="arabicPeriod"/>
              <a:defRPr sz="3250"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277573A-8AE8-439D-9F7D-A61F536D8210}" type="datetime1">
              <a:rPr lang="fr-FR" smtClean="0"/>
              <a:t>16/11/2023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smtClean="0"/>
              <a:t>DGALN/IGN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7B240D4-81E3-4155-9DC4-ECF57F96C7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596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359999" y="1200000"/>
            <a:ext cx="8424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E51F5AE-6F14-4AC4-8D87-7F67F2C4038D}" type="datetime1">
              <a:rPr lang="fr-FR" smtClean="0"/>
              <a:t>16/11/2023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smtClean="0"/>
              <a:t>DGALN/IGN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7B240D4-81E3-4155-9DC4-ECF57F96C7ED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240001"/>
            <a:ext cx="5472000" cy="48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 smtClean="0"/>
              <a:t>Titre</a:t>
            </a:r>
          </a:p>
          <a:p>
            <a:pPr lvl="1"/>
            <a:r>
              <a:rPr lang="fr-FR" dirty="0" smtClean="0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9999" y="2448000"/>
            <a:ext cx="2520000" cy="34320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 smtClean="0"/>
              <a:t>Texte de niveau 1</a:t>
            </a:r>
          </a:p>
          <a:p>
            <a:pPr lvl="1"/>
            <a:r>
              <a:rPr lang="fr-FR" dirty="0" smtClean="0"/>
              <a:t>Texte de niveau 2</a:t>
            </a:r>
          </a:p>
          <a:p>
            <a:pPr lvl="2"/>
            <a:r>
              <a:rPr lang="fr-FR" dirty="0" smtClean="0"/>
              <a:t>Texte de niveau 3</a:t>
            </a:r>
          </a:p>
          <a:p>
            <a:pPr lvl="3"/>
            <a:r>
              <a:rPr lang="fr-FR" dirty="0" smtClean="0"/>
              <a:t>Texte de niveau 4</a:t>
            </a:r>
          </a:p>
          <a:p>
            <a:pPr lvl="4"/>
            <a:r>
              <a:rPr lang="fr-FR" dirty="0" smtClean="0"/>
              <a:t>Texte de niveau 5</a:t>
            </a:r>
            <a:endParaRPr lang="fr-FR" dirty="0"/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312000" y="2448000"/>
            <a:ext cx="2520000" cy="34320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 smtClean="0"/>
              <a:t>Texte de niveau 1</a:t>
            </a:r>
          </a:p>
          <a:p>
            <a:pPr lvl="1"/>
            <a:r>
              <a:rPr lang="fr-FR" dirty="0" smtClean="0"/>
              <a:t>Texte de niveau 2</a:t>
            </a:r>
          </a:p>
          <a:p>
            <a:pPr lvl="2"/>
            <a:r>
              <a:rPr lang="fr-FR" dirty="0" smtClean="0"/>
              <a:t>Texte de niveau 3</a:t>
            </a:r>
          </a:p>
          <a:p>
            <a:pPr lvl="3"/>
            <a:r>
              <a:rPr lang="fr-FR" dirty="0" smtClean="0"/>
              <a:t>Texte de niveau 4</a:t>
            </a:r>
          </a:p>
          <a:p>
            <a:pPr lvl="4"/>
            <a:r>
              <a:rPr lang="fr-FR" dirty="0" smtClean="0"/>
              <a:t>Texte de niveau 5</a:t>
            </a:r>
            <a:endParaRPr lang="fr-FR" dirty="0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64000" y="2448000"/>
            <a:ext cx="2520000" cy="34320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 smtClean="0"/>
              <a:t>Texte de niveau 1</a:t>
            </a:r>
          </a:p>
          <a:p>
            <a:pPr lvl="1"/>
            <a:r>
              <a:rPr lang="fr-FR" dirty="0" smtClean="0"/>
              <a:t>Texte de niveau 2</a:t>
            </a:r>
          </a:p>
          <a:p>
            <a:pPr lvl="2"/>
            <a:r>
              <a:rPr lang="fr-FR" dirty="0" smtClean="0"/>
              <a:t>Texte de niveau 3</a:t>
            </a:r>
          </a:p>
          <a:p>
            <a:pPr lvl="3"/>
            <a:r>
              <a:rPr lang="fr-FR" dirty="0" smtClean="0"/>
              <a:t>Texte de niveau 4</a:t>
            </a:r>
          </a:p>
          <a:p>
            <a:pPr lvl="4"/>
            <a:r>
              <a:rPr lang="fr-FR" dirty="0" smtClean="0"/>
              <a:t>Texte de niveau 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40454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1200000"/>
            <a:ext cx="8424000" cy="960000"/>
          </a:xfrm>
        </p:spPr>
        <p:txBody>
          <a:bodyPr/>
          <a:lstStyle/>
          <a:p>
            <a:r>
              <a:rPr lang="fr-FR" noProof="0" dirty="0" smtClean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FD7C6B1-8D72-446E-A7EE-293ADDD336D3}" type="datetime1">
              <a:rPr lang="fr-FR" smtClean="0"/>
              <a:t>16/11/2023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 smtClean="0"/>
              <a:t>DGALN/IGN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7B240D4-81E3-4155-9DC4-ECF57F96C7ED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2448000"/>
            <a:ext cx="8424000" cy="34320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 smtClean="0"/>
              <a:t>Texte de niveau 1</a:t>
            </a:r>
          </a:p>
          <a:p>
            <a:pPr lvl="1"/>
            <a:r>
              <a:rPr lang="fr-FR" dirty="0" smtClean="0"/>
              <a:t>Texte de niveau 2</a:t>
            </a:r>
          </a:p>
          <a:p>
            <a:pPr lvl="2"/>
            <a:r>
              <a:rPr lang="fr-FR" dirty="0" smtClean="0"/>
              <a:t>Texte de niveau 3</a:t>
            </a:r>
          </a:p>
          <a:p>
            <a:pPr lvl="3"/>
            <a:r>
              <a:rPr lang="fr-FR" dirty="0" smtClean="0"/>
              <a:t>Texte de niveau 4</a:t>
            </a:r>
          </a:p>
          <a:p>
            <a:pPr lvl="4"/>
            <a:r>
              <a:rPr lang="fr-FR" dirty="0" smtClean="0"/>
              <a:t>Texte de niveau 5</a:t>
            </a:r>
            <a:endParaRPr lang="fr-FR" dirty="0"/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240001"/>
            <a:ext cx="5472000" cy="480000"/>
          </a:xfrm>
        </p:spPr>
        <p:txBody>
          <a:bodyPr/>
          <a:lstStyle>
            <a:lvl1pPr marL="108000" indent="-108000" algn="r">
              <a:spcAft>
                <a:spcPts val="0"/>
              </a:spcAft>
              <a:buFont typeface="+mj-lt"/>
              <a:buAutoNum type="arabicPeriod"/>
              <a:defRPr sz="750" b="1"/>
            </a:lvl1pPr>
            <a:lvl2pPr marL="108000" indent="-108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/>
            </a:lvl2pPr>
          </a:lstStyle>
          <a:p>
            <a:pPr lvl="0"/>
            <a:r>
              <a:rPr lang="fr-FR" dirty="0" smtClean="0"/>
              <a:t>Titre</a:t>
            </a:r>
          </a:p>
          <a:p>
            <a:pPr lvl="1"/>
            <a:r>
              <a:rPr lang="fr-FR" dirty="0" smtClean="0"/>
              <a:t>Sous-titre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57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0" y="1124640"/>
            <a:ext cx="9143640" cy="573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674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0" y="1124640"/>
            <a:ext cx="9143640" cy="573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422790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0" y="1124640"/>
            <a:ext cx="4461840" cy="573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85400" y="1124640"/>
            <a:ext cx="4461840" cy="573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419312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627266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360000" y="6629760"/>
            <a:ext cx="8423640" cy="13716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fr-FR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918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0" y="11246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85400" y="1124640"/>
            <a:ext cx="4461840" cy="573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0" y="41198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379465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0" y="1124640"/>
            <a:ext cx="4461840" cy="573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85400" y="11246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685400" y="41198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952391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0" y="11246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85400" y="11246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0" y="4119840"/>
            <a:ext cx="91436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4288156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0" y="1124640"/>
            <a:ext cx="91436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0" y="4119840"/>
            <a:ext cx="91436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3271740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0" y="11246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685400" y="11246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0" y="41198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body"/>
          </p:nvPr>
        </p:nvSpPr>
        <p:spPr>
          <a:xfrm>
            <a:off x="4685400" y="4119840"/>
            <a:ext cx="446184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8654247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60000" y="984000"/>
            <a:ext cx="8423640" cy="5394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0" y="1124640"/>
            <a:ext cx="294408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3091680" y="1124640"/>
            <a:ext cx="294408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6183360" y="1124640"/>
            <a:ext cx="294408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0" y="4119840"/>
            <a:ext cx="294408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3091680" y="4119840"/>
            <a:ext cx="294408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body"/>
          </p:nvPr>
        </p:nvSpPr>
        <p:spPr>
          <a:xfrm>
            <a:off x="6183360" y="4119840"/>
            <a:ext cx="2944080" cy="273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fr-FR" sz="1050" b="0" strike="noStrike" spc="-1">
              <a:solidFill>
                <a:srgbClr val="000000"/>
              </a:solidFill>
              <a:latin typeface="Marianne"/>
            </a:endParaRPr>
          </a:p>
        </p:txBody>
      </p:sp>
    </p:spTree>
    <p:extLst>
      <p:ext uri="{BB962C8B-B14F-4D97-AF65-F5344CB8AC3E}">
        <p14:creationId xmlns:p14="http://schemas.microsoft.com/office/powerpoint/2010/main" val="214591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359999" y="1200000"/>
            <a:ext cx="8424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 smtClean="0"/>
              <a:t>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9" y="2448000"/>
            <a:ext cx="8424000" cy="3432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 smtClean="0"/>
              <a:t>Texte de niveau 1</a:t>
            </a:r>
          </a:p>
          <a:p>
            <a:pPr lvl="1"/>
            <a:r>
              <a:rPr lang="fr-FR" noProof="0" dirty="0" smtClean="0"/>
              <a:t>Texte de niveau 2</a:t>
            </a:r>
          </a:p>
          <a:p>
            <a:pPr lvl="2"/>
            <a:r>
              <a:rPr lang="fr-FR" noProof="0" dirty="0" smtClean="0"/>
              <a:t>Texte de niveau 3</a:t>
            </a:r>
          </a:p>
          <a:p>
            <a:pPr lvl="3"/>
            <a:r>
              <a:rPr lang="fr-FR" noProof="0" dirty="0" smtClean="0"/>
              <a:t>Texte de niveau 4</a:t>
            </a:r>
          </a:p>
          <a:p>
            <a:pPr lvl="4"/>
            <a:r>
              <a:rPr lang="fr-FR" noProof="0" dirty="0" smtClean="0"/>
              <a:t>Texte de niveau 5</a:t>
            </a:r>
            <a:endParaRPr lang="fr-FR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614000" y="6378001"/>
            <a:ext cx="117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fld id="{4626E054-4E93-47E8-92BB-F29080184B66}" type="datetime1">
              <a:rPr lang="fr-FR" smtClean="0"/>
              <a:t>16/11/2023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60000" y="6378001"/>
            <a:ext cx="5904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DGALN/IGN</a:t>
            </a:r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264000" y="6378001"/>
            <a:ext cx="135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E7B240D4-81E3-4155-9DC4-ECF57F96C7ED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360000" y="6379199"/>
            <a:ext cx="8424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88000" y="144000"/>
            <a:ext cx="540000" cy="720000"/>
          </a:xfrm>
          <a:prstGeom prst="rect">
            <a:avLst/>
          </a:prstGeom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914" y="270603"/>
            <a:ext cx="1307481" cy="40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105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5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Line 1"/>
          <p:cNvSpPr/>
          <p:nvPr/>
        </p:nvSpPr>
        <p:spPr>
          <a:xfrm>
            <a:off x="360000" y="6379200"/>
            <a:ext cx="8424000" cy="480"/>
          </a:xfrm>
          <a:prstGeom prst="line">
            <a:avLst/>
          </a:prstGeom>
          <a:ln w="1016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5" name="Image 10"/>
          <p:cNvPicPr/>
          <p:nvPr/>
        </p:nvPicPr>
        <p:blipFill>
          <a:blip r:embed="rId14"/>
          <a:stretch/>
        </p:blipFill>
        <p:spPr>
          <a:xfrm>
            <a:off x="298440" y="144000"/>
            <a:ext cx="814320" cy="935520"/>
          </a:xfrm>
          <a:prstGeom prst="rect">
            <a:avLst/>
          </a:prstGeom>
          <a:ln w="0">
            <a:noFill/>
          </a:ln>
        </p:spPr>
      </p:pic>
      <p:pic>
        <p:nvPicPr>
          <p:cNvPr id="46" name="Image 9"/>
          <p:cNvPicPr/>
          <p:nvPr/>
        </p:nvPicPr>
        <p:blipFill>
          <a:blip r:embed="rId14"/>
          <a:stretch/>
        </p:blipFill>
        <p:spPr>
          <a:xfrm>
            <a:off x="147240" y="202560"/>
            <a:ext cx="2724840" cy="3130080"/>
          </a:xfrm>
          <a:prstGeom prst="rect">
            <a:avLst/>
          </a:prstGeom>
          <a:ln w="0">
            <a:noFill/>
          </a:ln>
        </p:spPr>
      </p:pic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179640" cy="2395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</a:pPr>
            <a:r>
              <a:rPr lang="fr-FR" sz="100" b="1" strike="noStrike" spc="-1">
                <a:solidFill>
                  <a:srgbClr val="000000">
                    <a:alpha val="0"/>
                  </a:srgbClr>
                </a:solidFill>
                <a:latin typeface="Marianne"/>
              </a:rPr>
              <a:t>Titre</a:t>
            </a:r>
            <a:endParaRPr lang="fr-FR" sz="100" b="0" strike="noStrike" spc="-1">
              <a:solidFill>
                <a:srgbClr val="000000"/>
              </a:solidFill>
              <a:latin typeface="Marianne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/>
          </p:nvPr>
        </p:nvSpPr>
        <p:spPr>
          <a:xfrm>
            <a:off x="7614000" y="6378240"/>
            <a:ext cx="1169640" cy="479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fld id="{1C2FD5A9-4336-48D3-B4C6-176B22C92F46}" type="datetime1">
              <a:rPr lang="fr-FR" sz="750" b="0" strike="noStrike" spc="-1" smtClean="0">
                <a:latin typeface="Times New Roman"/>
              </a:rPr>
              <a:t>16/11/2023</a:t>
            </a:fld>
            <a:endParaRPr lang="fr-FR" sz="750" b="0" strike="noStrike" spc="-1"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/>
          </p:nvPr>
        </p:nvSpPr>
        <p:spPr>
          <a:xfrm>
            <a:off x="360000" y="6378240"/>
            <a:ext cx="5903640" cy="479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fr-FR" sz="750" b="1" strike="noStrike" spc="-1" smtClean="0">
                <a:solidFill>
                  <a:srgbClr val="000000"/>
                </a:solidFill>
                <a:latin typeface="Marianne"/>
              </a:rPr>
              <a:t>DGALN/IGN</a:t>
            </a:r>
            <a:endParaRPr lang="fr-FR" sz="750" b="0" strike="noStrike" spc="-1"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/>
          </p:nvPr>
        </p:nvSpPr>
        <p:spPr>
          <a:xfrm>
            <a:off x="6264000" y="6378240"/>
            <a:ext cx="1349640" cy="479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fld id="{6EB07525-26E5-4485-A02B-A7B945A3DA97}" type="slidenum">
              <a:rPr lang="fr-FR" sz="750" b="1" strike="noStrike" spc="-1">
                <a:solidFill>
                  <a:srgbClr val="000000"/>
                </a:solidFill>
                <a:latin typeface="Marianne"/>
              </a:rPr>
              <a:t>‹N°›</a:t>
            </a:fld>
            <a:endParaRPr lang="fr-FR" sz="750" b="0" strike="noStrike" spc="-1"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body"/>
          </p:nvPr>
        </p:nvSpPr>
        <p:spPr>
          <a:xfrm>
            <a:off x="360000" y="3333120"/>
            <a:ext cx="8423640" cy="25641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fr-FR" sz="3250" b="1" strike="noStrike" cap="all" spc="-1">
                <a:solidFill>
                  <a:srgbClr val="000000"/>
                </a:solidFill>
                <a:latin typeface="Marianne"/>
              </a:rPr>
              <a:t>Titre</a:t>
            </a:r>
            <a:endParaRPr lang="fr-FR" sz="3250" b="0" strike="noStrike" spc="-1">
              <a:solidFill>
                <a:srgbClr val="000000"/>
              </a:solidFill>
              <a:latin typeface="Marianne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fr-FR" sz="1850" b="0" strike="noStrike" spc="-1">
                <a:solidFill>
                  <a:srgbClr val="000000"/>
                </a:solidFill>
                <a:latin typeface="Marianne"/>
              </a:rPr>
              <a:t>Sous-titre</a:t>
            </a:r>
          </a:p>
        </p:txBody>
      </p:sp>
      <p:sp>
        <p:nvSpPr>
          <p:cNvPr id="52" name="Line 7"/>
          <p:cNvSpPr/>
          <p:nvPr/>
        </p:nvSpPr>
        <p:spPr>
          <a:xfrm>
            <a:off x="360000" y="6379200"/>
            <a:ext cx="8424000" cy="480"/>
          </a:xfrm>
          <a:prstGeom prst="line">
            <a:avLst/>
          </a:prstGeom>
          <a:ln w="10160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026810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499"/>
        </a:spcBef>
        <a:buFont typeface="Arial" panose="020B0604020202020204" pitchFamily="34" charset="0"/>
        <a:buChar char="•"/>
        <a:tabLst>
          <a:tab pos="0" algn="l"/>
        </a:tabLst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Shape 1"/>
          <p:cNvSpPr txBox="1"/>
          <p:nvPr/>
        </p:nvSpPr>
        <p:spPr>
          <a:xfrm>
            <a:off x="0" y="857250"/>
            <a:ext cx="179640" cy="179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>
            <a:noAutofit/>
          </a:bodyPr>
          <a:lstStyle/>
          <a:p>
            <a:endParaRPr lang="fr-FR" spc="-1">
              <a:solidFill>
                <a:srgbClr val="000000"/>
              </a:solidFill>
              <a:latin typeface="Marianne"/>
              <a:ea typeface="DejaVu Sans"/>
              <a:cs typeface="DejaVu Sans"/>
            </a:endParaRPr>
          </a:p>
        </p:txBody>
      </p:sp>
      <p:sp>
        <p:nvSpPr>
          <p:cNvPr id="359" name="TextShape 2"/>
          <p:cNvSpPr txBox="1"/>
          <p:nvPr/>
        </p:nvSpPr>
        <p:spPr>
          <a:xfrm>
            <a:off x="360000" y="3447402"/>
            <a:ext cx="8423640" cy="219352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fr-FR" sz="2800" b="1" cap="all" spc="-1" dirty="0">
                <a:solidFill>
                  <a:srgbClr val="000000"/>
                </a:solidFill>
                <a:latin typeface="Marianne"/>
                <a:ea typeface="DejaVu Sans"/>
                <a:cs typeface="DejaVu Sans"/>
              </a:rPr>
              <a:t>CHANTIER NATIONAL ATLAS DE PAYSAGES</a:t>
            </a:r>
          </a:p>
          <a:p>
            <a:pPr>
              <a:spcBef>
                <a:spcPts val="499"/>
              </a:spcBef>
              <a:tabLst>
                <a:tab pos="0" algn="l"/>
              </a:tabLst>
            </a:pPr>
            <a:r>
              <a:rPr lang="fr-FR" b="1" cap="all" spc="-1" dirty="0" smtClean="0">
                <a:solidFill>
                  <a:prstClr val="black"/>
                </a:solidFill>
                <a:latin typeface="Marianne"/>
                <a:ea typeface="DejaVu Sans"/>
                <a:cs typeface="DejaVu Sans"/>
              </a:rPr>
              <a:t>Lancement de la phase de test ET DE MISE EN APPLICATION DU STANDARD PAYSAGES V.03</a:t>
            </a:r>
            <a:endParaRPr lang="fr-FR" b="1" cap="all" spc="-1" dirty="0">
              <a:solidFill>
                <a:srgbClr val="EA5433"/>
              </a:solidFill>
              <a:latin typeface="Marianne"/>
              <a:ea typeface="DejaVu Sans"/>
              <a:cs typeface="DejaVu Sans"/>
            </a:endParaRPr>
          </a:p>
          <a:p>
            <a:pPr>
              <a:spcBef>
                <a:spcPts val="499"/>
              </a:spcBef>
              <a:tabLst>
                <a:tab pos="0" algn="l"/>
              </a:tabLst>
            </a:pPr>
            <a:endParaRPr lang="fr-FR" dirty="0" smtClean="0">
              <a:solidFill>
                <a:prstClr val="black"/>
              </a:solidFill>
              <a:latin typeface="Arial"/>
              <a:ea typeface="DejaVu Sans"/>
              <a:cs typeface="DejaVu Sans"/>
            </a:endParaRPr>
          </a:p>
          <a:p>
            <a:pPr>
              <a:spcBef>
                <a:spcPts val="499"/>
              </a:spcBef>
              <a:tabLst>
                <a:tab pos="0" algn="l"/>
              </a:tabLst>
            </a:pPr>
            <a:endParaRPr lang="fr-FR" dirty="0">
              <a:solidFill>
                <a:prstClr val="black"/>
              </a:solidFill>
              <a:latin typeface="Arial"/>
              <a:ea typeface="DejaVu Sans"/>
              <a:cs typeface="DejaVu Sans"/>
            </a:endParaRPr>
          </a:p>
          <a:p>
            <a:pPr>
              <a:spcBef>
                <a:spcPts val="499"/>
              </a:spcBef>
              <a:tabLst>
                <a:tab pos="0" algn="l"/>
              </a:tabLst>
            </a:pPr>
            <a:r>
              <a:rPr lang="fr-FR" sz="1200" dirty="0" smtClean="0">
                <a:solidFill>
                  <a:prstClr val="black"/>
                </a:solidFill>
                <a:latin typeface="Marianne" panose="02000000000000000000" pitchFamily="50" charset="0"/>
              </a:rPr>
              <a:t>Dominique </a:t>
            </a:r>
            <a:r>
              <a:rPr lang="fr-FR" sz="1200" dirty="0">
                <a:solidFill>
                  <a:prstClr val="black"/>
                </a:solidFill>
                <a:latin typeface="Marianne" panose="02000000000000000000" pitchFamily="50" charset="0"/>
              </a:rPr>
              <a:t>Laurent, IGN</a:t>
            </a:r>
          </a:p>
          <a:p>
            <a:pPr>
              <a:spcBef>
                <a:spcPts val="499"/>
              </a:spcBef>
              <a:tabLst>
                <a:tab pos="0" algn="l"/>
              </a:tabLst>
            </a:pPr>
            <a:r>
              <a:rPr lang="fr-FR" sz="1200" dirty="0" smtClean="0">
                <a:solidFill>
                  <a:prstClr val="black"/>
                </a:solidFill>
                <a:latin typeface="Marianne" panose="02000000000000000000" pitchFamily="50" charset="0"/>
                <a:ea typeface="DejaVu Sans"/>
                <a:cs typeface="DejaVu Sans"/>
              </a:rPr>
              <a:t>Emilie </a:t>
            </a:r>
            <a:r>
              <a:rPr lang="fr-FR" sz="1200" dirty="0" err="1">
                <a:solidFill>
                  <a:prstClr val="black"/>
                </a:solidFill>
                <a:latin typeface="Marianne" panose="02000000000000000000" pitchFamily="50" charset="0"/>
                <a:ea typeface="DejaVu Sans"/>
                <a:cs typeface="DejaVu Sans"/>
              </a:rPr>
              <a:t>Fleury-Jägerschmidt</a:t>
            </a:r>
            <a:r>
              <a:rPr lang="fr-FR" sz="1200" dirty="0">
                <a:solidFill>
                  <a:prstClr val="black"/>
                </a:solidFill>
                <a:latin typeface="Marianne" panose="02000000000000000000" pitchFamily="50" charset="0"/>
                <a:ea typeface="DejaVu Sans"/>
                <a:cs typeface="DejaVu Sans"/>
              </a:rPr>
              <a:t>, </a:t>
            </a:r>
            <a:r>
              <a:rPr lang="fr-FR" sz="1200" dirty="0" smtClean="0">
                <a:solidFill>
                  <a:prstClr val="black"/>
                </a:solidFill>
                <a:latin typeface="Marianne" panose="02000000000000000000" pitchFamily="50" charset="0"/>
                <a:ea typeface="DejaVu Sans"/>
                <a:cs typeface="DejaVu Sans"/>
              </a:rPr>
              <a:t>DGALN</a:t>
            </a:r>
            <a:endParaRPr lang="fr-FR" sz="1200" dirty="0">
              <a:solidFill>
                <a:prstClr val="black"/>
              </a:solidFill>
              <a:latin typeface="Marianne" panose="02000000000000000000" pitchFamily="50" charset="0"/>
              <a:ea typeface="DejaVu Sans"/>
              <a:cs typeface="DejaVu Sans"/>
            </a:endParaRPr>
          </a:p>
        </p:txBody>
      </p:sp>
      <p:sp>
        <p:nvSpPr>
          <p:cNvPr id="360" name="TextShape 3"/>
          <p:cNvSpPr txBox="1"/>
          <p:nvPr/>
        </p:nvSpPr>
        <p:spPr>
          <a:xfrm>
            <a:off x="7613640" y="6295954"/>
            <a:ext cx="116964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fr-FR" sz="750" b="1" cap="all" spc="-1" dirty="0" smtClean="0">
                <a:solidFill>
                  <a:srgbClr val="000000"/>
                </a:solidFill>
                <a:latin typeface="Marianne"/>
                <a:ea typeface="DejaVu Sans"/>
                <a:cs typeface="DejaVu Sans"/>
              </a:rPr>
              <a:t>13/11/2023</a:t>
            </a:r>
            <a:endParaRPr lang="fr-FR" sz="750" spc="-1" dirty="0">
              <a:solidFill>
                <a:prstClr val="black"/>
              </a:solidFill>
              <a:latin typeface="Times New Roman"/>
              <a:ea typeface="DejaVu Sans"/>
              <a:cs typeface="DejaVu Sans"/>
            </a:endParaRPr>
          </a:p>
        </p:txBody>
      </p:sp>
      <p:sp>
        <p:nvSpPr>
          <p:cNvPr id="361" name="TextShape 4"/>
          <p:cNvSpPr txBox="1"/>
          <p:nvPr/>
        </p:nvSpPr>
        <p:spPr>
          <a:xfrm>
            <a:off x="360000" y="6295954"/>
            <a:ext cx="590364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fr-FR" sz="750" b="1" spc="-1" dirty="0">
                <a:solidFill>
                  <a:srgbClr val="000000"/>
                </a:solidFill>
                <a:latin typeface="Marianne"/>
                <a:ea typeface="DejaVu Sans"/>
                <a:cs typeface="DejaVu Sans"/>
              </a:rPr>
              <a:t>DGALN - IGN</a:t>
            </a:r>
            <a:endParaRPr lang="fr-FR" sz="750" spc="-1" dirty="0">
              <a:solidFill>
                <a:prstClr val="black"/>
              </a:solidFill>
              <a:latin typeface="Times New Roman"/>
              <a:ea typeface="DejaVu Sans"/>
              <a:cs typeface="DejaVu San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428" y="1123323"/>
            <a:ext cx="3238959" cy="166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5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4866" y="1412776"/>
            <a:ext cx="8424000" cy="502407"/>
          </a:xfrm>
        </p:spPr>
        <p:txBody>
          <a:bodyPr/>
          <a:lstStyle/>
          <a:p>
            <a:r>
              <a:rPr lang="fr-FR" dirty="0" smtClean="0"/>
              <a:t>ORDRE DU JOUR</a:t>
            </a:r>
            <a:r>
              <a:rPr lang="fr-FR" sz="2800" dirty="0"/>
              <a:t/>
            </a:r>
            <a:br>
              <a:rPr lang="fr-FR" sz="2800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179512" y="1990172"/>
            <a:ext cx="8208912" cy="3815092"/>
          </a:xfrm>
          <a:noFill/>
        </p:spPr>
        <p:txBody>
          <a:bodyPr/>
          <a:lstStyle/>
          <a:p>
            <a:pPr algn="just"/>
            <a:endParaRPr lang="fr-FR" sz="1800" dirty="0" smtClean="0"/>
          </a:p>
          <a:p>
            <a:pPr algn="just"/>
            <a:r>
              <a:rPr lang="fr-FR" sz="1800" b="1" dirty="0" smtClean="0"/>
              <a:t>1- Contexte   </a:t>
            </a:r>
          </a:p>
          <a:p>
            <a:pPr algn="just"/>
            <a:endParaRPr lang="fr-FR" sz="1800" b="1" dirty="0"/>
          </a:p>
          <a:p>
            <a:pPr algn="just"/>
            <a:r>
              <a:rPr lang="fr-FR" sz="1800" b="1" dirty="0" smtClean="0"/>
              <a:t>2- Le calendrier du standard </a:t>
            </a:r>
          </a:p>
          <a:p>
            <a:pPr algn="just"/>
            <a:endParaRPr lang="fr-FR" sz="1800" b="1" dirty="0"/>
          </a:p>
          <a:p>
            <a:pPr algn="just"/>
            <a:r>
              <a:rPr lang="fr-FR" sz="1800" b="1" dirty="0" smtClean="0"/>
              <a:t>3- Présentation du standard</a:t>
            </a:r>
          </a:p>
          <a:p>
            <a:pPr algn="just"/>
            <a:endParaRPr lang="fr-FR" sz="1800" b="1" dirty="0" smtClean="0"/>
          </a:p>
          <a:p>
            <a:pPr algn="just"/>
            <a:r>
              <a:rPr lang="fr-FR" sz="1800" b="1" dirty="0" smtClean="0"/>
              <a:t>4- Consignes pour les tests</a:t>
            </a:r>
            <a:endParaRPr lang="fr-FR" sz="1800" b="1" dirty="0"/>
          </a:p>
          <a:p>
            <a:pPr algn="just"/>
            <a:endParaRPr lang="fr-FR" sz="1700" dirty="0"/>
          </a:p>
          <a:p>
            <a:pPr marL="537750" lvl="1" indent="-285750" algn="just">
              <a:buFontTx/>
              <a:buChar char="-"/>
            </a:pPr>
            <a:endParaRPr lang="fr-FR" sz="1700" dirty="0" smtClean="0"/>
          </a:p>
          <a:p>
            <a:pPr lvl="1" indent="0" algn="just">
              <a:buNone/>
            </a:pPr>
            <a:endParaRPr lang="fr-FR" sz="1700" dirty="0"/>
          </a:p>
          <a:p>
            <a:pPr marL="537750" lvl="1" indent="-285750" algn="just">
              <a:buFontTx/>
              <a:buChar char="-"/>
            </a:pPr>
            <a:endParaRPr lang="fr-FR" sz="1700" dirty="0" smtClean="0"/>
          </a:p>
          <a:p>
            <a:pPr lvl="1" indent="0" algn="just">
              <a:buNone/>
            </a:pPr>
            <a:endParaRPr lang="fr-FR" sz="1700" dirty="0" smtClean="0"/>
          </a:p>
          <a:p>
            <a:pPr marL="537750" lvl="1" indent="-285750" algn="just">
              <a:buFontTx/>
              <a:buChar char="-"/>
            </a:pPr>
            <a:endParaRPr lang="fr-FR" sz="1700" dirty="0" smtClean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22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23528" y="1126876"/>
            <a:ext cx="8424000" cy="5110436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   1 Contexte</a:t>
            </a:r>
            <a:br>
              <a:rPr lang="fr-FR" dirty="0" smtClean="0"/>
            </a:br>
            <a:r>
              <a:rPr lang="fr-FR" dirty="0" smtClean="0"/>
              <a:t>	</a:t>
            </a:r>
            <a:endParaRPr lang="fr-FR" dirty="0"/>
          </a:p>
        </p:txBody>
      </p:sp>
      <p:sp>
        <p:nvSpPr>
          <p:cNvPr id="4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/>
              <a:t>DGALN/IGN</a:t>
            </a:r>
            <a:endParaRPr lang="fr-FR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593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030953"/>
            <a:ext cx="8928992" cy="502407"/>
          </a:xfrm>
        </p:spPr>
        <p:txBody>
          <a:bodyPr/>
          <a:lstStyle/>
          <a:p>
            <a:r>
              <a:rPr lang="fr-FR" dirty="0" smtClean="0"/>
              <a:t>Contexte de création du Standard</a:t>
            </a:r>
            <a:r>
              <a:rPr lang="fr-FR" sz="2800" spc="-1" dirty="0">
                <a:solidFill>
                  <a:srgbClr val="595959"/>
                </a:solidFill>
              </a:rPr>
              <a:t/>
            </a:r>
            <a:br>
              <a:rPr lang="fr-FR" sz="2800" spc="-1" dirty="0">
                <a:solidFill>
                  <a:srgbClr val="595959"/>
                </a:solidFill>
              </a:rPr>
            </a:br>
            <a:endParaRPr lang="fr-FR" sz="1800" b="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323528" y="1533360"/>
            <a:ext cx="8424000" cy="4838763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00" b="1" dirty="0" smtClean="0"/>
              <a:t>Le</a:t>
            </a:r>
            <a:r>
              <a:rPr lang="fr-FR" sz="1700" dirty="0" smtClean="0"/>
              <a:t> </a:t>
            </a:r>
            <a:r>
              <a:rPr lang="fr-FR" sz="1700" b="1" dirty="0" smtClean="0"/>
              <a:t>chantier </a:t>
            </a:r>
            <a:r>
              <a:rPr lang="fr-FR" sz="1700" b="1" dirty="0"/>
              <a:t>national de </a:t>
            </a:r>
            <a:r>
              <a:rPr lang="fr-FR" sz="1700" b="1" dirty="0" smtClean="0"/>
              <a:t>transformation du service public de la </a:t>
            </a:r>
            <a:r>
              <a:rPr lang="fr-FR" sz="1700" b="1" dirty="0"/>
              <a:t>connaissance des Paysages </a:t>
            </a:r>
            <a:r>
              <a:rPr lang="fr-FR" sz="1700" b="1" dirty="0" smtClean="0"/>
              <a:t>(</a:t>
            </a:r>
            <a:r>
              <a:rPr lang="fr-FR" sz="1700" dirty="0" smtClean="0"/>
              <a:t>MTECT)</a:t>
            </a:r>
            <a:endParaRPr lang="fr-FR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00" b="1" dirty="0"/>
              <a:t>Une feuille de route partagée </a:t>
            </a:r>
            <a:r>
              <a:rPr lang="fr-FR" sz="1700" dirty="0"/>
              <a:t>avec les </a:t>
            </a:r>
            <a:r>
              <a:rPr lang="fr-FR" sz="1700" dirty="0" smtClean="0"/>
              <a:t>utilisateurs </a:t>
            </a:r>
            <a:r>
              <a:rPr lang="fr-FR" sz="1700" dirty="0"/>
              <a:t>du </a:t>
            </a:r>
            <a:r>
              <a:rPr lang="fr-FR" sz="1700" dirty="0" smtClean="0"/>
              <a:t>paysage </a:t>
            </a:r>
            <a:r>
              <a:rPr lang="fr-FR" sz="1700" dirty="0"/>
              <a:t>pour actualiser la méthode atlas de paysages et la création </a:t>
            </a:r>
            <a:r>
              <a:rPr lang="fr-FR" sz="1700" dirty="0" smtClean="0"/>
              <a:t>de son </a:t>
            </a:r>
            <a:r>
              <a:rPr lang="fr-FR" sz="1700" dirty="0"/>
              <a:t>Standard </a:t>
            </a:r>
            <a:endParaRPr lang="fr-FR" sz="17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00" b="1" dirty="0" smtClean="0"/>
              <a:t>Un </a:t>
            </a:r>
            <a:r>
              <a:rPr lang="fr-FR" sz="1700" b="1" dirty="0"/>
              <a:t>mandat validé par le </a:t>
            </a:r>
            <a:r>
              <a:rPr lang="fr-FR" sz="1700" b="1" dirty="0" smtClean="0"/>
              <a:t>CNIG</a:t>
            </a:r>
            <a:r>
              <a:rPr lang="fr-FR" sz="1700" dirty="0"/>
              <a:t> </a:t>
            </a:r>
            <a:r>
              <a:rPr lang="fr-FR" sz="1700" dirty="0" smtClean="0"/>
              <a:t>pour rendre </a:t>
            </a:r>
            <a:r>
              <a:rPr lang="fr-FR" sz="1700" dirty="0"/>
              <a:t>les données paysages opérationnelles </a:t>
            </a:r>
            <a:r>
              <a:rPr lang="fr-FR" sz="1700" dirty="0" smtClean="0"/>
              <a:t>:</a:t>
            </a:r>
            <a:endParaRPr lang="fr-FR" sz="800" dirty="0" smtClean="0"/>
          </a:p>
          <a:p>
            <a:pPr marL="537750" lvl="1" indent="-285750" algn="just">
              <a:buFont typeface="Wingdings" panose="05000000000000000000" pitchFamily="2" charset="2"/>
              <a:buChar char="ü"/>
            </a:pPr>
            <a:r>
              <a:rPr lang="fr-FR" sz="1700" b="1" dirty="0" smtClean="0"/>
              <a:t>Favoriser </a:t>
            </a:r>
            <a:r>
              <a:rPr lang="fr-FR" sz="1700" b="1" dirty="0"/>
              <a:t>l'interopérabilité </a:t>
            </a:r>
            <a:r>
              <a:rPr lang="fr-FR" sz="1700" dirty="0"/>
              <a:t>des données paysage avec celles relatives à la planification et faciliter ainsi la prise en compte du paysage dans les documents </a:t>
            </a:r>
            <a:r>
              <a:rPr lang="fr-FR" sz="1700" dirty="0" smtClean="0"/>
              <a:t>d'urbanisme</a:t>
            </a:r>
          </a:p>
          <a:p>
            <a:pPr marL="537750" lvl="1" indent="-285750" algn="just">
              <a:buFont typeface="Wingdings" panose="05000000000000000000" pitchFamily="2" charset="2"/>
              <a:buChar char="ü"/>
            </a:pPr>
            <a:r>
              <a:rPr lang="fr-FR" sz="1700" b="1" dirty="0" smtClean="0"/>
              <a:t>Harmoniser </a:t>
            </a:r>
            <a:r>
              <a:rPr lang="fr-FR" sz="1700" b="1" dirty="0"/>
              <a:t>les modes de production et les critères des données géographiques</a:t>
            </a:r>
            <a:r>
              <a:rPr lang="fr-FR" sz="1700" dirty="0"/>
              <a:t> relatives aux </a:t>
            </a:r>
            <a:r>
              <a:rPr lang="fr-FR" sz="1700" dirty="0" smtClean="0"/>
              <a:t>paysage</a:t>
            </a:r>
            <a:endParaRPr lang="fr-FR" sz="1700" dirty="0"/>
          </a:p>
          <a:p>
            <a:pPr marL="537750" lvl="1" indent="-285750" algn="just">
              <a:buFont typeface="Wingdings" panose="05000000000000000000" pitchFamily="2" charset="2"/>
              <a:buChar char="ü"/>
            </a:pPr>
            <a:r>
              <a:rPr lang="fr-FR" sz="1700" b="1" dirty="0"/>
              <a:t>Permettre aux collectivités de mieux prendre en compte la donnée paysage dans leurs projets </a:t>
            </a:r>
            <a:r>
              <a:rPr lang="fr-FR" sz="1700" b="1" dirty="0" smtClean="0"/>
              <a:t>d'aménagement </a:t>
            </a:r>
            <a:r>
              <a:rPr lang="fr-FR" sz="1700" dirty="0" smtClean="0"/>
              <a:t>(ex: énergies renouvelables)</a:t>
            </a:r>
          </a:p>
          <a:p>
            <a:pPr marL="537750" lvl="1" indent="-285750" algn="just">
              <a:buFont typeface="Wingdings" panose="05000000000000000000" pitchFamily="2" charset="2"/>
              <a:buChar char="ü"/>
            </a:pPr>
            <a:r>
              <a:rPr lang="fr-FR" sz="1700" b="1" dirty="0" smtClean="0"/>
              <a:t>Permettre l’évaluation </a:t>
            </a:r>
            <a:r>
              <a:rPr lang="fr-FR" sz="1700" b="1" dirty="0"/>
              <a:t>des politiques publiques et de leur impact sur les paysages</a:t>
            </a:r>
            <a:endParaRPr lang="fr-FR" sz="1700" b="1" dirty="0" smtClean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dirty="0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4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844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126875"/>
            <a:ext cx="8424000" cy="502407"/>
          </a:xfrm>
        </p:spPr>
        <p:txBody>
          <a:bodyPr/>
          <a:lstStyle/>
          <a:p>
            <a:r>
              <a:rPr lang="fr-FR" dirty="0" smtClean="0"/>
              <a:t> Les ambitions du GT Standard (réunion)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345057" y="1484784"/>
            <a:ext cx="8208912" cy="4742841"/>
          </a:xfrm>
        </p:spPr>
        <p:txBody>
          <a:bodyPr/>
          <a:lstStyle/>
          <a:p>
            <a:pPr algn="just"/>
            <a:endParaRPr lang="fr-FR" sz="1800" dirty="0" smtClean="0"/>
          </a:p>
          <a:p>
            <a:pPr marL="285750" indent="-285750" algn="just">
              <a:buFontTx/>
              <a:buChar char="-"/>
            </a:pPr>
            <a:r>
              <a:rPr lang="fr-FR" sz="1800" dirty="0" smtClean="0"/>
              <a:t>De repartir </a:t>
            </a:r>
            <a:r>
              <a:rPr lang="fr-FR" sz="1800" b="1" dirty="0" smtClean="0"/>
              <a:t>des bonnes pratiques locales pour formaliser une norme nationale </a:t>
            </a:r>
            <a:r>
              <a:rPr lang="fr-FR" sz="1800" dirty="0" smtClean="0"/>
              <a:t>: enjeu d’adhésion et de mise en application par les utilisateurs;</a:t>
            </a:r>
          </a:p>
          <a:p>
            <a:pPr marL="285750" indent="-285750" algn="just">
              <a:buFontTx/>
              <a:buChar char="-"/>
            </a:pPr>
            <a:r>
              <a:rPr lang="fr-FR" sz="1800" dirty="0" smtClean="0"/>
              <a:t>De </a:t>
            </a:r>
            <a:r>
              <a:rPr lang="fr-FR" sz="1800" b="1" dirty="0" smtClean="0"/>
              <a:t>fournir une sémantique commune </a:t>
            </a:r>
            <a:r>
              <a:rPr lang="fr-FR" sz="1800" dirty="0" smtClean="0"/>
              <a:t>du paysage qui sera la norme dans le Standard (typologie nationale et dynamiques);</a:t>
            </a:r>
          </a:p>
          <a:p>
            <a:pPr marL="285750" indent="-285750" algn="just">
              <a:buFontTx/>
              <a:buChar char="-"/>
            </a:pPr>
            <a:r>
              <a:rPr lang="fr-FR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 </a:t>
            </a:r>
            <a:r>
              <a:rPr lang="fr-FR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disposer d’indicateurs </a:t>
            </a:r>
            <a:r>
              <a:rPr lang="fr-F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communs </a:t>
            </a:r>
            <a:r>
              <a:rPr lang="fr-FR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pour autoriser des requêtes à des fins de comparaison, de production de carte, et par recollement des UP de construire une vision nationale;</a:t>
            </a:r>
          </a:p>
          <a:p>
            <a:pPr marL="285750" indent="-285750" algn="just">
              <a:buFontTx/>
              <a:buChar char="-"/>
            </a:pPr>
            <a:r>
              <a:rPr lang="fr-FR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 </a:t>
            </a:r>
            <a:r>
              <a:rPr lang="fr-FR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centraliser au niveau national </a:t>
            </a:r>
            <a:r>
              <a:rPr lang="fr-FR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sur un </a:t>
            </a:r>
            <a:r>
              <a:rPr lang="fr-FR" sz="1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GéoPortail</a:t>
            </a:r>
            <a:r>
              <a:rPr lang="fr-FR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la donnée produite au local par les MOA d’atlas de paysages (faciliter l’accès et la visibilité);</a:t>
            </a:r>
          </a:p>
          <a:p>
            <a:pPr marL="285750" indent="-285750" algn="just">
              <a:buFontTx/>
              <a:buChar char="-"/>
            </a:pPr>
            <a:r>
              <a:rPr lang="fr-FR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D’unifier </a:t>
            </a:r>
            <a:r>
              <a:rPr lang="fr-F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les CCTP </a:t>
            </a:r>
            <a:r>
              <a:rPr lang="fr-F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(aide à la rédaction, à la lecture), faciliter le suivi des </a:t>
            </a:r>
            <a:r>
              <a:rPr lang="fr-FR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travaux;</a:t>
            </a:r>
          </a:p>
          <a:p>
            <a:pPr marL="285750" indent="-285750" algn="just">
              <a:buFontTx/>
              <a:buChar char="-"/>
            </a:pPr>
            <a:r>
              <a:rPr lang="fr-FR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 </a:t>
            </a:r>
            <a:r>
              <a:rPr lang="fr-FR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mobiliser la norme </a:t>
            </a:r>
            <a:r>
              <a:rPr lang="fr-FR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pour la nécessaire production de la connaissance des paysages et l’assurance d’une qualité des données.</a:t>
            </a:r>
            <a:endParaRPr lang="fr-FR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just"/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Tx/>
              <a:buChar char="-"/>
            </a:pPr>
            <a:endParaRPr lang="fr-FR" sz="800" dirty="0" smtClean="0"/>
          </a:p>
          <a:p>
            <a:pPr marL="285750" indent="-285750" algn="just">
              <a:buFontTx/>
              <a:buChar char="-"/>
            </a:pPr>
            <a:endParaRPr lang="fr-FR" sz="1800" b="1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  <a:p>
            <a:pPr marL="537750" lvl="1" indent="-285750" algn="just">
              <a:buFontTx/>
              <a:buChar char="-"/>
            </a:pPr>
            <a:endParaRPr lang="fr-FR" sz="1700" dirty="0" smtClean="0"/>
          </a:p>
          <a:p>
            <a:pPr lvl="1" indent="0" algn="just">
              <a:buNone/>
            </a:pPr>
            <a:endParaRPr lang="fr-FR" sz="1700" dirty="0"/>
          </a:p>
          <a:p>
            <a:pPr marL="537750" lvl="1" indent="-285750" algn="just">
              <a:buFontTx/>
              <a:buChar char="-"/>
            </a:pPr>
            <a:endParaRPr lang="fr-FR" sz="1700" dirty="0" smtClean="0"/>
          </a:p>
          <a:p>
            <a:pPr lvl="1" indent="0" algn="just">
              <a:buNone/>
            </a:pPr>
            <a:endParaRPr lang="fr-FR" sz="1700" dirty="0" smtClean="0"/>
          </a:p>
          <a:p>
            <a:pPr marL="537750" lvl="1" indent="-285750" algn="just">
              <a:buFontTx/>
              <a:buChar char="-"/>
            </a:pPr>
            <a:endParaRPr lang="fr-FR" sz="1700" dirty="0" smtClean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dirty="0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5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17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251519" y="1507454"/>
            <a:ext cx="8532479" cy="4816550"/>
          </a:xfrm>
          <a:noFill/>
        </p:spPr>
        <p:txBody>
          <a:bodyPr/>
          <a:lstStyle/>
          <a:p>
            <a:pPr algn="just"/>
            <a:r>
              <a:rPr lang="fr-FR" sz="1700" b="1" dirty="0" smtClean="0"/>
              <a:t>Les structures volontaires pour tester :</a:t>
            </a:r>
          </a:p>
          <a:p>
            <a:pPr marL="285750" indent="-285750" algn="just">
              <a:buFontTx/>
              <a:buChar char="-"/>
            </a:pPr>
            <a:r>
              <a:rPr lang="fr-FR" sz="1700" b="1" dirty="0" smtClean="0"/>
              <a:t>12 référents engagés</a:t>
            </a:r>
            <a:r>
              <a:rPr lang="fr-FR" sz="1700" dirty="0" smtClean="0"/>
              <a:t>, référents paysages et administrateurs de données</a:t>
            </a:r>
          </a:p>
          <a:p>
            <a:pPr marL="285750" indent="-285750" algn="just">
              <a:buFontTx/>
              <a:buChar char="-"/>
            </a:pPr>
            <a:r>
              <a:rPr lang="fr-FR" sz="1700" b="1" dirty="0" smtClean="0"/>
              <a:t>10 territoires concernés</a:t>
            </a:r>
            <a:r>
              <a:rPr lang="fr-FR" sz="1700" dirty="0" smtClean="0"/>
              <a:t>, Normandie, PACA, Bretagne, Val-d’Oise, La Réunion, Haut-Languedoc</a:t>
            </a:r>
          </a:p>
          <a:p>
            <a:pPr marL="285750" indent="-285750" algn="just">
              <a:buFontTx/>
              <a:buChar char="-"/>
            </a:pPr>
            <a:r>
              <a:rPr lang="fr-FR" sz="1700" b="1" dirty="0" smtClean="0"/>
              <a:t>5 organismes utilisateurs </a:t>
            </a:r>
            <a:r>
              <a:rPr lang="fr-FR" sz="1700" dirty="0" smtClean="0"/>
              <a:t>: Parcs Naturels Régionaux, CAUE, Observatoire de l’Environnement de Bretagne (OEB), services déconcentrés de l’Etat (DEAL, DREAL)</a:t>
            </a:r>
          </a:p>
          <a:p>
            <a:pPr algn="just"/>
            <a:endParaRPr lang="fr-FR" sz="1700" dirty="0" smtClean="0"/>
          </a:p>
          <a:p>
            <a:pPr algn="just"/>
            <a:r>
              <a:rPr lang="fr-FR" sz="1700" b="1" dirty="0" smtClean="0"/>
              <a:t>Le partenariat avec l’ESGT pour la mise en application :</a:t>
            </a:r>
          </a:p>
          <a:p>
            <a:pPr marL="285750" indent="-285750" algn="just">
              <a:buFontTx/>
              <a:buChar char="-"/>
            </a:pPr>
            <a:r>
              <a:rPr lang="fr-FR" sz="1700" b="1" dirty="0" smtClean="0"/>
              <a:t>1 école nationale </a:t>
            </a:r>
            <a:r>
              <a:rPr lang="fr-FR" sz="1700" dirty="0" smtClean="0"/>
              <a:t>engagée dans un projet pré opérationnel </a:t>
            </a:r>
          </a:p>
          <a:p>
            <a:pPr marL="285750" indent="-285750" algn="just">
              <a:buFontTx/>
              <a:buChar char="-"/>
            </a:pPr>
            <a:r>
              <a:rPr lang="fr-FR" sz="1700" b="1" dirty="0" smtClean="0"/>
              <a:t>1 territoire pilote</a:t>
            </a:r>
            <a:r>
              <a:rPr lang="fr-FR" sz="1700" dirty="0" smtClean="0"/>
              <a:t>, le Morbihan, et une équipe projet de 5 référents réunissant la DDTM, le PNR, l’OEB</a:t>
            </a:r>
          </a:p>
          <a:p>
            <a:pPr marL="285750" indent="-285750" algn="just">
              <a:buFontTx/>
              <a:buChar char="-"/>
            </a:pPr>
            <a:r>
              <a:rPr lang="fr-FR" sz="1700" b="1" dirty="0" smtClean="0"/>
              <a:t>2 enseignants </a:t>
            </a:r>
            <a:r>
              <a:rPr lang="fr-FR" sz="1700" dirty="0" smtClean="0"/>
              <a:t>encadrants en binôme géographie et géomatique</a:t>
            </a:r>
          </a:p>
          <a:p>
            <a:pPr marL="285750" indent="-285750" algn="just">
              <a:buFontTx/>
              <a:buChar char="-"/>
            </a:pPr>
            <a:r>
              <a:rPr lang="fr-FR" sz="1700" b="1" dirty="0" smtClean="0"/>
              <a:t>3 étudiants </a:t>
            </a:r>
            <a:r>
              <a:rPr lang="fr-FR" sz="1700" dirty="0" smtClean="0"/>
              <a:t>mobilisés pour leur projet pré professionnel (PPP) de fin d’étude</a:t>
            </a:r>
          </a:p>
          <a:p>
            <a:pPr algn="just"/>
            <a:endParaRPr lang="fr-FR" sz="1700" dirty="0"/>
          </a:p>
          <a:p>
            <a:pPr lvl="0" algn="just"/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6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9" name="TextShape 1"/>
          <p:cNvSpPr txBox="1">
            <a:spLocks noGrp="1"/>
          </p:cNvSpPr>
          <p:nvPr>
            <p:ph type="title"/>
          </p:nvPr>
        </p:nvSpPr>
        <p:spPr>
          <a:xfrm>
            <a:off x="251519" y="980728"/>
            <a:ext cx="8424000" cy="4786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lang="fr-FR" sz="2400" b="1" spc="-1" dirty="0" smtClean="0">
                <a:solidFill>
                  <a:srgbClr val="262626"/>
                </a:solidFill>
                <a:latin typeface="Marianne"/>
                <a:ea typeface="DejaVu Sans"/>
                <a:cs typeface="DejaVu Sans"/>
              </a:rPr>
              <a:t>La phase d’expérimentation : Les acteurs</a:t>
            </a:r>
            <a:endParaRPr lang="fr-FR" sz="2400" b="1" spc="-1" dirty="0">
              <a:solidFill>
                <a:srgbClr val="595959"/>
              </a:solidFill>
              <a:latin typeface="Marianne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78982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23528" y="1126876"/>
            <a:ext cx="8424000" cy="5395200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   </a:t>
            </a:r>
            <a:r>
              <a:rPr lang="fr-FR" dirty="0"/>
              <a:t>2</a:t>
            </a:r>
            <a:r>
              <a:rPr lang="fr-FR" dirty="0" smtClean="0"/>
              <a:t>  Le  calendrier du standard 	</a:t>
            </a:r>
            <a:endParaRPr lang="fr-FR" dirty="0"/>
          </a:p>
        </p:txBody>
      </p:sp>
      <p:sp>
        <p:nvSpPr>
          <p:cNvPr id="4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/>
              <a:t>DGALN/IGN</a:t>
            </a:r>
            <a:endParaRPr lang="fr-FR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378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251519" y="1414641"/>
            <a:ext cx="8532479" cy="4796092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lvl="0" algn="just"/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8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96" y="1839998"/>
            <a:ext cx="7474527" cy="3705668"/>
          </a:xfrm>
          <a:prstGeom prst="rect">
            <a:avLst/>
          </a:prstGeom>
        </p:spPr>
      </p:pic>
      <p:sp>
        <p:nvSpPr>
          <p:cNvPr id="9" name="TextShape 1"/>
          <p:cNvSpPr txBox="1">
            <a:spLocks noGrp="1"/>
          </p:cNvSpPr>
          <p:nvPr>
            <p:ph type="title"/>
          </p:nvPr>
        </p:nvSpPr>
        <p:spPr>
          <a:xfrm>
            <a:off x="359999" y="1200000"/>
            <a:ext cx="8424000" cy="4786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lang="fr-FR" sz="2400" b="1" spc="-1" dirty="0" smtClean="0">
                <a:solidFill>
                  <a:srgbClr val="262626"/>
                </a:solidFill>
                <a:latin typeface="Marianne"/>
                <a:ea typeface="DejaVu Sans"/>
                <a:cs typeface="DejaVu Sans"/>
              </a:rPr>
              <a:t>Etapes de réalisation du chantier national</a:t>
            </a:r>
            <a:endParaRPr lang="fr-FR" sz="2400" b="1" spc="-1" dirty="0">
              <a:solidFill>
                <a:srgbClr val="595959"/>
              </a:solidFill>
              <a:latin typeface="Marianne"/>
              <a:ea typeface="DejaVu Sans"/>
              <a:cs typeface="DejaVu Sans"/>
            </a:endParaRPr>
          </a:p>
        </p:txBody>
      </p:sp>
      <p:sp>
        <p:nvSpPr>
          <p:cNvPr id="10" name="Étoile à 5 branches 9"/>
          <p:cNvSpPr/>
          <p:nvPr/>
        </p:nvSpPr>
        <p:spPr>
          <a:xfrm>
            <a:off x="6156176" y="5229200"/>
            <a:ext cx="72008" cy="7200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70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grandes étapes </a:t>
            </a:r>
            <a:r>
              <a:rPr lang="fr-FR" dirty="0"/>
              <a:t>:</a:t>
            </a:r>
            <a:r>
              <a:rPr lang="fr-FR" dirty="0" smtClean="0"/>
              <a:t> déroulement des tests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9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8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251520" y="1556792"/>
            <a:ext cx="7920880" cy="4796092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13 nov. : </a:t>
            </a:r>
            <a:r>
              <a:rPr lang="fr-FR" sz="1800" dirty="0" smtClean="0"/>
              <a:t>Diffusion du </a:t>
            </a:r>
            <a:r>
              <a:rPr lang="fr-FR" sz="1800" dirty="0"/>
              <a:t>"Projet de standard CNIG Paysages v2023-11"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14 et 23 nov. : </a:t>
            </a:r>
            <a:r>
              <a:rPr lang="fr-FR" sz="1800" dirty="0" smtClean="0"/>
              <a:t>Réunions de lancement : Novembre 2023</a:t>
            </a:r>
          </a:p>
          <a:p>
            <a:pPr algn="just"/>
            <a:endParaRPr lang="fr-FR" sz="1800" dirty="0"/>
          </a:p>
          <a:p>
            <a:pPr algn="just"/>
            <a:r>
              <a:rPr lang="fr-FR" sz="1800" dirty="0" smtClean="0"/>
              <a:t>Périmètre et objectifs de la phase de test et de mise en application :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b="1" dirty="0"/>
              <a:t>M</a:t>
            </a:r>
            <a:r>
              <a:rPr lang="fr-FR" sz="1700" b="1" dirty="0" smtClean="0"/>
              <a:t>ise en œuvre sur les données d’atlas existants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 </a:t>
            </a:r>
            <a:r>
              <a:rPr lang="fr-FR" sz="1700" b="1" dirty="0" smtClean="0"/>
              <a:t>=&gt; Vérifier </a:t>
            </a:r>
            <a:r>
              <a:rPr lang="fr-FR" sz="1700" b="1" dirty="0"/>
              <a:t>la faisabilité du standard </a:t>
            </a:r>
            <a:endParaRPr lang="fr-FR" sz="1700" b="1" dirty="0" smtClean="0"/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b="1" dirty="0" smtClean="0"/>
              <a:t> =&gt; Retours d’expériences</a:t>
            </a:r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r>
              <a:rPr lang="fr-FR" sz="1500" b="1" dirty="0" smtClean="0"/>
              <a:t>Modifications au standard</a:t>
            </a:r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r>
              <a:rPr lang="fr-FR" sz="1500" b="1" dirty="0" smtClean="0"/>
              <a:t>Enrichissement des conseils de mise en œuvre </a:t>
            </a:r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r>
              <a:rPr lang="fr-FR" sz="1500" b="1" dirty="0" smtClean="0"/>
              <a:t>Exemples de jeux-test</a:t>
            </a:r>
            <a:endParaRPr lang="fr-FR" sz="1500" b="1" dirty="0"/>
          </a:p>
          <a:p>
            <a:pPr algn="just"/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26 janvier : </a:t>
            </a:r>
            <a:r>
              <a:rPr lang="fr-FR" sz="1800" dirty="0" smtClean="0"/>
              <a:t>Rapportage des résultats de tests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09 février : </a:t>
            </a:r>
            <a:r>
              <a:rPr lang="fr-FR" sz="1800" dirty="0" smtClean="0"/>
              <a:t>Livrables et soutenance des étudiants de l’ESGT</a:t>
            </a:r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</p:spTree>
    <p:extLst>
      <p:ext uri="{BB962C8B-B14F-4D97-AF65-F5344CB8AC3E}">
        <p14:creationId xmlns:p14="http://schemas.microsoft.com/office/powerpoint/2010/main" val="166064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grandes étapes : finalisation du standard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10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8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323528" y="1772816"/>
            <a:ext cx="8064896" cy="4392488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14 déc</a:t>
            </a:r>
            <a:r>
              <a:rPr lang="fr-FR" sz="1800" dirty="0" smtClean="0"/>
              <a:t>.: Rapport d’avancement (CNIG)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12 </a:t>
            </a:r>
            <a:r>
              <a:rPr lang="fr-FR" sz="1800" b="1" dirty="0" err="1" smtClean="0"/>
              <a:t>fev</a:t>
            </a:r>
            <a:r>
              <a:rPr lang="fr-FR" sz="1800" dirty="0" smtClean="0"/>
              <a:t>.: GT Standard (</a:t>
            </a:r>
            <a:r>
              <a:rPr lang="fr-FR" sz="1800" dirty="0" err="1" smtClean="0"/>
              <a:t>visio</a:t>
            </a:r>
            <a:r>
              <a:rPr lang="fr-FR" sz="1800" dirty="0" smtClean="0"/>
              <a:t>) restitution de la phase de test et de la mise en application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12 </a:t>
            </a:r>
            <a:r>
              <a:rPr lang="fr-FR" sz="1800" b="1" dirty="0" err="1"/>
              <a:t>fev</a:t>
            </a:r>
            <a:r>
              <a:rPr lang="fr-FR" sz="1800" b="1" dirty="0"/>
              <a:t>. – 11 </a:t>
            </a:r>
            <a:r>
              <a:rPr lang="fr-FR" sz="1800" b="1" dirty="0" smtClean="0"/>
              <a:t>mars</a:t>
            </a:r>
            <a:r>
              <a:rPr lang="fr-FR" sz="1800" dirty="0" smtClean="0"/>
              <a:t>: Bilan </a:t>
            </a:r>
            <a:r>
              <a:rPr lang="fr-FR" sz="1800" dirty="0"/>
              <a:t>de rapport </a:t>
            </a:r>
            <a:r>
              <a:rPr lang="fr-FR" sz="1800" dirty="0" smtClean="0"/>
              <a:t>– évolution du Standard Paysages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>
                <a:solidFill>
                  <a:srgbClr val="FF0000"/>
                </a:solidFill>
              </a:rPr>
              <a:t>Mi-mars : GT </a:t>
            </a:r>
            <a:r>
              <a:rPr lang="fr-FR" sz="1800" smtClean="0">
                <a:solidFill>
                  <a:srgbClr val="FF0000"/>
                </a:solidFill>
              </a:rPr>
              <a:t>Standard consolidé </a:t>
            </a:r>
            <a:endParaRPr lang="fr-FR" sz="1800" dirty="0" smtClean="0">
              <a:solidFill>
                <a:srgbClr val="FF00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Fin mars à mi avril </a:t>
            </a:r>
            <a:r>
              <a:rPr lang="fr-FR" sz="1800" dirty="0" smtClean="0"/>
              <a:t>: nouvelle version du Standard Paysages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b="1" dirty="0" smtClean="0"/>
              <a:t>Avril</a:t>
            </a:r>
            <a:r>
              <a:rPr lang="fr-FR" sz="1800" dirty="0" smtClean="0"/>
              <a:t> : Appel à commentaires (CNIG)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>
                <a:solidFill>
                  <a:srgbClr val="FF0000"/>
                </a:solidFill>
              </a:rPr>
              <a:t>Juin : Validation du Standard (CNIG)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>
              <a:solidFill>
                <a:srgbClr val="FF0000"/>
              </a:solidFill>
            </a:endParaRPr>
          </a:p>
          <a:p>
            <a:pPr algn="just"/>
            <a:r>
              <a:rPr lang="fr-FR" sz="1800" u="sng" dirty="0" smtClean="0"/>
              <a:t>A noter </a:t>
            </a:r>
            <a:r>
              <a:rPr lang="fr-FR" sz="1800" dirty="0" smtClean="0"/>
              <a:t>: La mise en conformité avec le SIB sera intégrée à ce calendrier</a:t>
            </a:r>
            <a:endParaRPr lang="fr-FR" sz="1800" dirty="0"/>
          </a:p>
          <a:p>
            <a:pPr algn="just"/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lvl="0" algn="just"/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</p:spTree>
    <p:extLst>
      <p:ext uri="{BB962C8B-B14F-4D97-AF65-F5344CB8AC3E}">
        <p14:creationId xmlns:p14="http://schemas.microsoft.com/office/powerpoint/2010/main" val="244258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23528" y="1126876"/>
            <a:ext cx="8424000" cy="5395200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   </a:t>
            </a:r>
            <a:r>
              <a:rPr lang="fr-FR" dirty="0"/>
              <a:t>3</a:t>
            </a:r>
            <a:r>
              <a:rPr lang="fr-FR" dirty="0" smtClean="0"/>
              <a:t>  Présentation du standard 	</a:t>
            </a:r>
            <a:endParaRPr lang="fr-FR" dirty="0"/>
          </a:p>
        </p:txBody>
      </p:sp>
      <p:sp>
        <p:nvSpPr>
          <p:cNvPr id="4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/>
              <a:t>DGALN/IGN</a:t>
            </a:r>
            <a:endParaRPr lang="fr-FR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701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6012160" y="4725144"/>
            <a:ext cx="3131840" cy="15841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La structure du document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323528" y="1412776"/>
            <a:ext cx="8064896" cy="2952328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Présentation du standard</a:t>
            </a:r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 Contexte règlementaire </a:t>
            </a:r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Contenu du standard</a:t>
            </a:r>
          </a:p>
          <a:p>
            <a:pPr marL="537750" lvl="1" indent="-285750" algn="just">
              <a:spcAft>
                <a:spcPts val="0"/>
              </a:spcAft>
              <a:buFont typeface="Marianne" pitchFamily="50" charset="0"/>
              <a:buChar char="–"/>
            </a:pPr>
            <a:r>
              <a:rPr lang="fr-FR" sz="1700" dirty="0" smtClean="0"/>
              <a:t>Exigences générales (systèmes de référence) </a:t>
            </a:r>
          </a:p>
          <a:p>
            <a:pPr marL="537750" lvl="1" indent="-285750" algn="just">
              <a:spcAft>
                <a:spcPts val="0"/>
              </a:spcAft>
              <a:buFont typeface="Marianne" pitchFamily="50" charset="0"/>
              <a:buChar char="–"/>
            </a:pPr>
            <a:r>
              <a:rPr lang="fr-FR" sz="1700" dirty="0" smtClean="0"/>
              <a:t>Modèle conceptuel de données</a:t>
            </a:r>
          </a:p>
          <a:p>
            <a:pPr marL="537750" lvl="1" indent="-285750" algn="just">
              <a:spcAft>
                <a:spcPts val="0"/>
              </a:spcAft>
              <a:buFont typeface="Marianne" pitchFamily="50" charset="0"/>
              <a:buChar char="–"/>
            </a:pPr>
            <a:r>
              <a:rPr lang="fr-FR" sz="1700" dirty="0" smtClean="0"/>
              <a:t>Catalogue d’objets</a:t>
            </a:r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Recommandations pour les données</a:t>
            </a:r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Métadonnées</a:t>
            </a:r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Maintenance</a:t>
            </a:r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Livraison </a:t>
            </a:r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Annexe A : conseils de mise en </a:t>
            </a:r>
            <a:r>
              <a:rPr lang="fr-FR" sz="1800" dirty="0" err="1" smtClean="0"/>
              <a:t>oeuvre</a:t>
            </a:r>
            <a:endParaRPr lang="fr-FR" sz="1800" dirty="0" smtClean="0"/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sz="1800" dirty="0" smtClean="0"/>
              <a:t>Annexe B : profil pour </a:t>
            </a:r>
            <a:r>
              <a:rPr lang="fr-FR" sz="1800" dirty="0" err="1" smtClean="0"/>
              <a:t>shapefile</a:t>
            </a:r>
            <a:endParaRPr lang="fr-FR" sz="1800" dirty="0" smtClean="0"/>
          </a:p>
          <a:p>
            <a:pPr marL="285750" indent="-28575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sz="18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12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4" name="Accolade fermante 3"/>
          <p:cNvSpPr/>
          <p:nvPr/>
        </p:nvSpPr>
        <p:spPr>
          <a:xfrm>
            <a:off x="5540856" y="3206688"/>
            <a:ext cx="360040" cy="5760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309104" y="3107440"/>
            <a:ext cx="288032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Contenu et structure des données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Accolade fermante 8"/>
          <p:cNvSpPr/>
          <p:nvPr/>
        </p:nvSpPr>
        <p:spPr>
          <a:xfrm>
            <a:off x="4328356" y="1844824"/>
            <a:ext cx="360040" cy="57606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816199" y="1689768"/>
            <a:ext cx="288032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Chapitres introductifs 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6106732" y="3050581"/>
            <a:ext cx="2942696" cy="82930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à coins arrondis 11"/>
          <p:cNvSpPr/>
          <p:nvPr/>
        </p:nvSpPr>
        <p:spPr>
          <a:xfrm>
            <a:off x="539552" y="4869160"/>
            <a:ext cx="4392488" cy="731351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à coins arrondis 12"/>
          <p:cNvSpPr/>
          <p:nvPr/>
        </p:nvSpPr>
        <p:spPr>
          <a:xfrm>
            <a:off x="516164" y="3827521"/>
            <a:ext cx="4276647" cy="753608"/>
          </a:xfrm>
          <a:prstGeom prst="roundRect">
            <a:avLst/>
          </a:prstGeom>
          <a:noFill/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v</a:t>
            </a:r>
            <a:endParaRPr lang="fr-FR" dirty="0"/>
          </a:p>
        </p:txBody>
      </p:sp>
      <p:sp>
        <p:nvSpPr>
          <p:cNvPr id="14" name="Rectangle à coins arrondis 13"/>
          <p:cNvSpPr/>
          <p:nvPr/>
        </p:nvSpPr>
        <p:spPr>
          <a:xfrm>
            <a:off x="6264188" y="5126426"/>
            <a:ext cx="504056" cy="288033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6948264" y="4977171"/>
            <a:ext cx="2051720" cy="648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Enjeu principal des tests 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6264188" y="5600511"/>
            <a:ext cx="504056" cy="288033"/>
          </a:xfrm>
          <a:prstGeom prst="roundRect">
            <a:avLst/>
          </a:prstGeom>
          <a:noFill/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>
            <a:off x="829601" y="2819039"/>
            <a:ext cx="4711255" cy="387649"/>
          </a:xfrm>
          <a:prstGeom prst="roundRect">
            <a:avLst/>
          </a:prstGeom>
          <a:noFill/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v</a:t>
            </a:r>
            <a:endParaRPr lang="fr-FR" dirty="0"/>
          </a:p>
        </p:txBody>
      </p:sp>
      <p:sp>
        <p:nvSpPr>
          <p:cNvPr id="18" name="Rectangle 17"/>
          <p:cNvSpPr/>
          <p:nvPr/>
        </p:nvSpPr>
        <p:spPr>
          <a:xfrm>
            <a:off x="6948264" y="5420490"/>
            <a:ext cx="2267744" cy="648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>
                <a:solidFill>
                  <a:schemeClr val="tx1"/>
                </a:solidFill>
              </a:rPr>
              <a:t>Enjeu secondaire des tests 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516165" y="5625244"/>
            <a:ext cx="4415876" cy="387649"/>
          </a:xfrm>
          <a:prstGeom prst="roundRect">
            <a:avLst/>
          </a:prstGeom>
          <a:noFill/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767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 animBg="1"/>
      <p:bldP spid="8" grpId="0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18" grpId="0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030953"/>
            <a:ext cx="8928992" cy="502407"/>
          </a:xfrm>
        </p:spPr>
        <p:txBody>
          <a:bodyPr/>
          <a:lstStyle/>
          <a:p>
            <a:r>
              <a:rPr lang="fr-FR" dirty="0" smtClean="0"/>
              <a:t>Vue générale 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13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7140" y="1671368"/>
            <a:ext cx="736282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à coins arrondis 9"/>
          <p:cNvSpPr/>
          <p:nvPr/>
        </p:nvSpPr>
        <p:spPr>
          <a:xfrm>
            <a:off x="2051720" y="1700808"/>
            <a:ext cx="2376264" cy="648072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436096" y="1340768"/>
            <a:ext cx="3600400" cy="6840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Un atlas doit contenir des découpages paysagers</a:t>
            </a:r>
            <a:endParaRPr lang="fr-FR" sz="1600" dirty="0"/>
          </a:p>
        </p:txBody>
      </p:sp>
      <p:sp>
        <p:nvSpPr>
          <p:cNvPr id="14" name="Rectangle à coins arrondis 13"/>
          <p:cNvSpPr/>
          <p:nvPr/>
        </p:nvSpPr>
        <p:spPr>
          <a:xfrm>
            <a:off x="4067944" y="2636912"/>
            <a:ext cx="2016224" cy="864096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611559" y="4149080"/>
            <a:ext cx="1458169" cy="86409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5652119" y="4149080"/>
            <a:ext cx="1458169" cy="86409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à coins arrondis 16"/>
          <p:cNvSpPr/>
          <p:nvPr/>
        </p:nvSpPr>
        <p:spPr>
          <a:xfrm>
            <a:off x="3226997" y="4149080"/>
            <a:ext cx="1756163" cy="864096"/>
          </a:xfrm>
          <a:prstGeom prst="roundRect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6428038" y="2492896"/>
            <a:ext cx="2699792" cy="100811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Ces découpages paysagers peuvent être à plusieurs niveaux </a:t>
            </a:r>
            <a:endParaRPr lang="fr-FR" sz="1600" dirty="0"/>
          </a:p>
        </p:txBody>
      </p:sp>
      <p:sp>
        <p:nvSpPr>
          <p:cNvPr id="19" name="Rectangle à coins arrondis 18"/>
          <p:cNvSpPr/>
          <p:nvPr/>
        </p:nvSpPr>
        <p:spPr>
          <a:xfrm>
            <a:off x="3059832" y="5229200"/>
            <a:ext cx="1800200" cy="685850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5652119" y="5301208"/>
            <a:ext cx="3384377" cy="1008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Des informations de dynamique peuvent être attachées aux découpages paysagers</a:t>
            </a:r>
            <a:endParaRPr lang="fr-FR" sz="1600" dirty="0"/>
          </a:p>
        </p:txBody>
      </p:sp>
      <p:sp>
        <p:nvSpPr>
          <p:cNvPr id="21" name="Rectangle à coins arrondis 20"/>
          <p:cNvSpPr/>
          <p:nvPr/>
        </p:nvSpPr>
        <p:spPr>
          <a:xfrm flipH="1">
            <a:off x="195084" y="2492896"/>
            <a:ext cx="3728839" cy="1008113"/>
          </a:xfrm>
          <a:prstGeom prst="roundRect">
            <a:avLst/>
          </a:prstGeom>
          <a:noFill/>
          <a:ln w="5715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7236296" y="3717033"/>
            <a:ext cx="1800201" cy="129614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L’atlas peut contenir en outre des limites et des documents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1846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6" grpId="0" animBg="1"/>
      <p:bldP spid="17" grpId="0" animBg="1"/>
      <p:bldP spid="12" grpId="0" animBg="1"/>
      <p:bldP spid="19" grpId="0" animBg="1"/>
      <p:bldP spid="13" grpId="0" animBg="1"/>
      <p:bldP spid="21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935031"/>
            <a:ext cx="8136904" cy="575531"/>
          </a:xfrm>
        </p:spPr>
        <p:txBody>
          <a:bodyPr/>
          <a:lstStyle/>
          <a:p>
            <a:r>
              <a:rPr lang="fr-FR" dirty="0" smtClean="0"/>
              <a:t>La classe </a:t>
            </a:r>
            <a:r>
              <a:rPr lang="fr-FR" dirty="0" err="1" smtClean="0"/>
              <a:t>AtlasPaysage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14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84784"/>
            <a:ext cx="4657725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à coins arrondis 7"/>
          <p:cNvSpPr/>
          <p:nvPr/>
        </p:nvSpPr>
        <p:spPr>
          <a:xfrm>
            <a:off x="3347864" y="1772816"/>
            <a:ext cx="1561381" cy="1584176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364088" y="1556792"/>
            <a:ext cx="3600400" cy="23042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L’élaboration du standard se fait en parallèle de la révision de la méthode des atlas départementaux  </a:t>
            </a:r>
          </a:p>
          <a:p>
            <a:pPr algn="ctr"/>
            <a:endParaRPr lang="fr-FR" dirty="0"/>
          </a:p>
          <a:p>
            <a:pPr algn="ctr"/>
            <a:r>
              <a:rPr lang="fr-FR" dirty="0" smtClean="0"/>
              <a:t>Mais le standard s’adresse aussi aux données issues d’autres types d’atlas  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611560" y="4509120"/>
            <a:ext cx="7848872" cy="1656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fr-FR" dirty="0" smtClean="0">
                <a:solidFill>
                  <a:schemeClr val="tx1"/>
                </a:solidFill>
              </a:rPr>
              <a:t>La classe </a:t>
            </a:r>
            <a:r>
              <a:rPr lang="fr-FR" dirty="0" err="1" smtClean="0">
                <a:solidFill>
                  <a:schemeClr val="tx1"/>
                </a:solidFill>
              </a:rPr>
              <a:t>AtlasPaysage</a:t>
            </a:r>
            <a:r>
              <a:rPr lang="fr-FR" dirty="0" smtClean="0">
                <a:solidFill>
                  <a:schemeClr val="tx1"/>
                </a:solidFill>
              </a:rPr>
              <a:t>  comporte un seul objet .</a:t>
            </a:r>
          </a:p>
          <a:p>
            <a:pPr>
              <a:spcBef>
                <a:spcPts val="600"/>
              </a:spcBef>
            </a:pPr>
            <a:r>
              <a:rPr lang="fr-FR" dirty="0" smtClean="0">
                <a:solidFill>
                  <a:schemeClr val="tx1"/>
                </a:solidFill>
              </a:rPr>
              <a:t>Elle est destinée à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fr-FR" sz="1600" dirty="0" smtClean="0">
                <a:solidFill>
                  <a:schemeClr val="tx1"/>
                </a:solidFill>
              </a:rPr>
              <a:t>Regrouper les autres classes d’objets </a:t>
            </a:r>
          </a:p>
          <a:p>
            <a:pPr marL="742950" lvl="1" indent="-285750">
              <a:spcBef>
                <a:spcPts val="600"/>
              </a:spcBef>
              <a:buFontTx/>
              <a:buChar char="-"/>
            </a:pPr>
            <a:r>
              <a:rPr lang="fr-FR" sz="1600" dirty="0">
                <a:solidFill>
                  <a:schemeClr val="tx1"/>
                </a:solidFill>
              </a:rPr>
              <a:t>P</a:t>
            </a:r>
            <a:r>
              <a:rPr lang="fr-FR" sz="1600" dirty="0" smtClean="0">
                <a:solidFill>
                  <a:schemeClr val="tx1"/>
                </a:solidFill>
              </a:rPr>
              <a:t>orter des information de métadonnées  </a:t>
            </a:r>
            <a:endParaRPr lang="fr-F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13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7200900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935031"/>
            <a:ext cx="8136904" cy="575531"/>
          </a:xfrm>
        </p:spPr>
        <p:txBody>
          <a:bodyPr/>
          <a:lstStyle/>
          <a:p>
            <a:r>
              <a:rPr lang="fr-FR" dirty="0" smtClean="0"/>
              <a:t>La structure des découpages paysagers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15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64088" y="1556792"/>
            <a:ext cx="3600400" cy="20162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La classe </a:t>
            </a:r>
            <a:r>
              <a:rPr lang="fr-FR" dirty="0" err="1" smtClean="0"/>
              <a:t>DécoupagePaysager</a:t>
            </a:r>
            <a:r>
              <a:rPr lang="fr-FR" dirty="0" smtClean="0"/>
              <a:t> sert uniquement à factoriser les attributs communs.</a:t>
            </a:r>
          </a:p>
          <a:p>
            <a:pPr algn="ctr"/>
            <a:endParaRPr lang="fr-FR" dirty="0"/>
          </a:p>
          <a:p>
            <a:pPr algn="ctr"/>
            <a:r>
              <a:rPr lang="fr-FR" dirty="0" smtClean="0"/>
              <a:t>C’est une classe abstraite </a:t>
            </a:r>
          </a:p>
          <a:p>
            <a:pPr algn="ctr"/>
            <a:r>
              <a:rPr lang="fr-FR" dirty="0" smtClean="0"/>
              <a:t>(sans objet) 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467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935031"/>
            <a:ext cx="8136904" cy="575531"/>
          </a:xfrm>
        </p:spPr>
        <p:txBody>
          <a:bodyPr/>
          <a:lstStyle/>
          <a:p>
            <a:r>
              <a:rPr lang="fr-FR" dirty="0" smtClean="0"/>
              <a:t>Les attributs communs des découpages paysagers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16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4343708" cy="396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à coins arrondis 2"/>
          <p:cNvSpPr/>
          <p:nvPr/>
        </p:nvSpPr>
        <p:spPr>
          <a:xfrm>
            <a:off x="323528" y="2564904"/>
            <a:ext cx="2952328" cy="1116124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4690349" y="2604500"/>
            <a:ext cx="4097635" cy="79205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Des attributs de base</a:t>
            </a:r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323528" y="3708295"/>
            <a:ext cx="3672408" cy="944841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4690349" y="3708295"/>
            <a:ext cx="4097635" cy="104411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Une description synthétique du découpage – </a:t>
            </a:r>
          </a:p>
          <a:p>
            <a:pPr algn="ctr"/>
            <a:r>
              <a:rPr lang="fr-FR" dirty="0" smtClean="0"/>
              <a:t>attributs de forme libre</a:t>
            </a:r>
            <a:endParaRPr lang="fr-FR" dirty="0"/>
          </a:p>
        </p:txBody>
      </p:sp>
      <p:sp>
        <p:nvSpPr>
          <p:cNvPr id="14" name="Rectangle à coins arrondis 13"/>
          <p:cNvSpPr/>
          <p:nvPr/>
        </p:nvSpPr>
        <p:spPr>
          <a:xfrm>
            <a:off x="323528" y="4806719"/>
            <a:ext cx="3888432" cy="72008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4690349" y="4941168"/>
            <a:ext cx="4097635" cy="7920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Attributs pour faciliter les recherches </a:t>
            </a:r>
          </a:p>
          <a:p>
            <a:pPr algn="ctr"/>
            <a:r>
              <a:rPr lang="fr-FR" dirty="0" smtClean="0"/>
              <a:t>(données de plusieurs atlas)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714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 animBg="1"/>
      <p:bldP spid="8" grpId="0" animBg="1"/>
      <p:bldP spid="14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935031"/>
            <a:ext cx="8136904" cy="575531"/>
          </a:xfrm>
        </p:spPr>
        <p:txBody>
          <a:bodyPr/>
          <a:lstStyle/>
          <a:p>
            <a:r>
              <a:rPr lang="fr-FR" dirty="0" smtClean="0"/>
              <a:t>La typologie des unités paysagères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17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544330"/>
            <a:ext cx="6400800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79512" y="4337377"/>
            <a:ext cx="4608512" cy="1872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Les unités paysagères sont le principal découpage paysager. Il est attendu qu’elles forment (à terme) une partition du territoire français =&gt; intérêt d’avoir une typologie commune pour permettre des recherches et des comparaisons. </a:t>
            </a:r>
            <a:endParaRPr lang="fr-FR" sz="1600" dirty="0"/>
          </a:p>
        </p:txBody>
      </p:sp>
      <p:sp>
        <p:nvSpPr>
          <p:cNvPr id="11" name="Rectangle 10"/>
          <p:cNvSpPr/>
          <p:nvPr/>
        </p:nvSpPr>
        <p:spPr>
          <a:xfrm>
            <a:off x="6732240" y="1772816"/>
            <a:ext cx="2267744" cy="36724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Classification selon des critères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d’orographie (et géomorphologie)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r>
              <a:rPr lang="fr-F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’occupation et usage du sol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fr-FR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Possibilité d’utiliser aussi une classification locale (si elle existe) 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65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030953"/>
            <a:ext cx="8928992" cy="502407"/>
          </a:xfrm>
        </p:spPr>
        <p:txBody>
          <a:bodyPr/>
          <a:lstStyle/>
          <a:p>
            <a:r>
              <a:rPr lang="fr-FR" dirty="0" smtClean="0"/>
              <a:t>Les dynamiques </a:t>
            </a:r>
            <a:br>
              <a:rPr lang="fr-FR" dirty="0" smtClean="0"/>
            </a:b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18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56792"/>
            <a:ext cx="6852295" cy="3895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79512" y="5589240"/>
            <a:ext cx="6708279" cy="6480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Chaque découpage paysager peut avoir un nombre quelconque de dynamiques</a:t>
            </a:r>
            <a:endParaRPr lang="fr-FR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2699792" y="2708920"/>
            <a:ext cx="2016224" cy="432048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175823" y="1772816"/>
            <a:ext cx="1860673" cy="20162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Chaque dynamique  doit être décrite de façon standardisée (code </a:t>
            </a:r>
            <a:r>
              <a:rPr lang="fr-FR" sz="1600" dirty="0" err="1" smtClean="0"/>
              <a:t>lists</a:t>
            </a:r>
            <a:r>
              <a:rPr lang="fr-FR" sz="1600" dirty="0" smtClean="0"/>
              <a:t>) et peut être décrite de façon libre</a:t>
            </a:r>
            <a:endParaRPr lang="fr-FR" sz="1600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5004048" y="1988840"/>
            <a:ext cx="2016224" cy="2952328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7250765" y="3977969"/>
            <a:ext cx="1860673" cy="20882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 smtClean="0"/>
              <a:t>La plupart des dynamiques sont basées sur des changements de couverture du sol (OCS GE)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01631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935031"/>
            <a:ext cx="8136904" cy="575531"/>
          </a:xfrm>
        </p:spPr>
        <p:txBody>
          <a:bodyPr/>
          <a:lstStyle/>
          <a:p>
            <a:r>
              <a:rPr lang="fr-FR" dirty="0" smtClean="0"/>
              <a:t>Les limites de découpages paysagers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19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7504" y="3786783"/>
            <a:ext cx="6480720" cy="223450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marL="285750" indent="-285750">
              <a:buFontTx/>
              <a:buChar char="-"/>
            </a:pPr>
            <a:r>
              <a:rPr lang="fr-FR" dirty="0" smtClean="0"/>
              <a:t>Demande d’une topologie propre des découpages paysagers de même niveau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600" dirty="0" smtClean="0"/>
              <a:t>Pas de zones de transition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sz="1600" dirty="0" smtClean="0"/>
              <a:t>Pas de chevauchement</a:t>
            </a:r>
          </a:p>
          <a:p>
            <a:pPr marL="742950" lvl="1" indent="-285750">
              <a:buFontTx/>
              <a:buChar char="-"/>
            </a:pP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smtClean="0"/>
              <a:t>Besoin d’alerter l’utilisateur sur le caractère flou de la plupart des limites (alors que le SIG permet de zoomer)</a:t>
            </a:r>
            <a:endParaRPr lang="fr-FR" dirty="0"/>
          </a:p>
          <a:p>
            <a:pPr algn="ctr"/>
            <a:endParaRPr lang="fr-F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00808"/>
            <a:ext cx="536257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4321899"/>
            <a:ext cx="1963067" cy="1570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à coins arrondis 2"/>
          <p:cNvSpPr/>
          <p:nvPr/>
        </p:nvSpPr>
        <p:spPr>
          <a:xfrm>
            <a:off x="323528" y="2780928"/>
            <a:ext cx="1872208" cy="504056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2339751" y="1844824"/>
            <a:ext cx="3274343" cy="1800200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6012160" y="1412776"/>
            <a:ext cx="2880320" cy="20882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pPr algn="ctr"/>
            <a:r>
              <a:rPr lang="fr-FR" dirty="0" smtClean="0"/>
              <a:t>Documenter la  précision de la limite par son statut  et/ou sa largeur estimée.</a:t>
            </a:r>
          </a:p>
          <a:p>
            <a:pPr algn="ctr"/>
            <a:r>
              <a:rPr lang="fr-FR" dirty="0" smtClean="0"/>
              <a:t>Documenter éventuellement la nature de la limite </a:t>
            </a: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232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  <p:bldP spid="11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limites de découpages paysagers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20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12" name="Image 1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04864"/>
            <a:ext cx="4276725" cy="31788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5580112" y="2678145"/>
            <a:ext cx="3312368" cy="197499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/>
              <a:t>La limite doit être découpée:</a:t>
            </a:r>
          </a:p>
          <a:p>
            <a:pPr marL="285750" indent="-285750">
              <a:buFontTx/>
              <a:buChar char="-"/>
            </a:pPr>
            <a:r>
              <a:rPr lang="fr-FR" sz="1600" dirty="0" smtClean="0"/>
              <a:t>Aux intersections avec d’autres limites</a:t>
            </a:r>
          </a:p>
          <a:p>
            <a:pPr marL="285750" indent="-285750">
              <a:buFontTx/>
              <a:buChar char="-"/>
            </a:pPr>
            <a:r>
              <a:rPr lang="fr-FR" sz="1600" dirty="0" smtClean="0"/>
              <a:t>En cas de changement de valeur d’attribut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1738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documents paysage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21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16832"/>
            <a:ext cx="3067050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499992" y="2060848"/>
            <a:ext cx="3816424" cy="1872208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/>
              <a:t>Le standard donne la possibilité de fournir les  documents illustrant le paysage</a:t>
            </a:r>
          </a:p>
          <a:p>
            <a:pPr marL="285750" indent="-285750">
              <a:buFontTx/>
              <a:buChar char="-"/>
            </a:pPr>
            <a:r>
              <a:rPr lang="fr-FR" sz="1600" dirty="0" smtClean="0"/>
              <a:t>Photos (à localiser au site)</a:t>
            </a:r>
          </a:p>
          <a:p>
            <a:pPr marL="285750" indent="-285750">
              <a:buFontTx/>
              <a:buChar char="-"/>
            </a:pPr>
            <a:r>
              <a:rPr lang="fr-FR" sz="1600" dirty="0" smtClean="0"/>
              <a:t>Vues générales (à localiser au </a:t>
            </a:r>
            <a:r>
              <a:rPr lang="fr-FR" sz="1600" dirty="0" err="1" smtClean="0"/>
              <a:t>centroïde</a:t>
            </a:r>
            <a:r>
              <a:rPr lang="fr-FR" sz="1600" dirty="0" smtClean="0"/>
              <a:t> du découpage)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02091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836712"/>
            <a:ext cx="8136904" cy="575531"/>
          </a:xfrm>
        </p:spPr>
        <p:txBody>
          <a:bodyPr/>
          <a:lstStyle/>
          <a:p>
            <a:r>
              <a:rPr lang="fr-FR" dirty="0" smtClean="0"/>
              <a:t>Les grands principes du modèle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179512" y="1484784"/>
            <a:ext cx="8640960" cy="4796092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S’adapter aux données issues de divers atlas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 smtClean="0"/>
              <a:t>Selon le territoire : région, département, PNR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 smtClean="0"/>
              <a:t>Selon la date de l’atlas : ambitions plus importantes pour les données issues des « nouveaux » atlas (publiées après le standard)</a:t>
            </a:r>
          </a:p>
          <a:p>
            <a:pPr lvl="1" indent="0" algn="just">
              <a:buNone/>
            </a:pPr>
            <a:endParaRPr lang="fr-FR" sz="1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 Standardiser les données sans trop appauvrir leur contenu, sans perdre totalement le caractère sensible de l’atlas </a:t>
            </a:r>
          </a:p>
          <a:p>
            <a:pPr algn="just"/>
            <a:r>
              <a:rPr lang="fr-FR" sz="1800" dirty="0" smtClean="0"/>
              <a:t>      =&gt;  3 niveaux de lecture proposés à l’utilisateur 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/>
              <a:t>Attributs fortement standardisés </a:t>
            </a:r>
            <a:r>
              <a:rPr lang="fr-FR" sz="1600" dirty="0" smtClean="0"/>
              <a:t>(ex</a:t>
            </a:r>
            <a:r>
              <a:rPr lang="fr-FR" sz="1600" dirty="0"/>
              <a:t>: code </a:t>
            </a:r>
            <a:r>
              <a:rPr lang="fr-FR" sz="1600" dirty="0" err="1"/>
              <a:t>lists</a:t>
            </a:r>
            <a:r>
              <a:rPr lang="fr-FR" sz="1600" dirty="0"/>
              <a:t>) pour l’usage </a:t>
            </a:r>
            <a:r>
              <a:rPr lang="fr-FR" sz="1600" dirty="0" smtClean="0"/>
              <a:t>national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 smtClean="0"/>
              <a:t>Attributs sous forme libre pour donner une information synthétique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 smtClean="0"/>
              <a:t>Lien vers l’atlas  pour fournir la totalité de l’information</a:t>
            </a:r>
          </a:p>
          <a:p>
            <a:pPr marL="537750" lvl="1" indent="-285750" algn="just">
              <a:buFont typeface="Marianne" pitchFamily="50" charset="0"/>
              <a:buChar char="–"/>
            </a:pPr>
            <a:endParaRPr lang="fr-FR" sz="1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Permettre une mise à jour en continu des données (demande de l’enquête)</a:t>
            </a: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lvl="0" algn="just"/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22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71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autres préconisations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323528" y="1772816"/>
            <a:ext cx="8064896" cy="2952328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Systèmes de référence des coordonnées 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 smtClean="0"/>
              <a:t>Système légal en vigueur selon le territoire (métropole, DOM)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Qualité  : quelques recommandations sur 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/>
              <a:t>L’exhaustivité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/>
              <a:t>La précision géométrique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/>
              <a:t>La cohérence topologique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/>
              <a:t>La précision sémantique </a:t>
            </a:r>
          </a:p>
          <a:p>
            <a:pPr marL="537750" lvl="1" indent="-285750" algn="just"/>
            <a:endParaRPr lang="fr-FR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Métadonnées (découverte)</a:t>
            </a:r>
            <a:endParaRPr lang="fr-FR" sz="1800" dirty="0"/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/>
              <a:t>Selon le formulaire </a:t>
            </a:r>
            <a:r>
              <a:rPr lang="fr-FR" sz="1600" dirty="0" smtClean="0"/>
              <a:t>commun CNIG </a:t>
            </a:r>
            <a:r>
              <a:rPr lang="fr-FR" sz="1600" dirty="0"/>
              <a:t>(adapté d’INSPIRE)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lvl="0" algn="just"/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23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17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autres préconisations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323528" y="2060848"/>
            <a:ext cx="8064896" cy="3888432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Maintenance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 smtClean="0"/>
              <a:t>Pour les futures révisions des atlas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Livraison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 smtClean="0"/>
              <a:t> formats préconisés : </a:t>
            </a:r>
            <a:r>
              <a:rPr lang="fr-FR" sz="1600" b="1" dirty="0" err="1" smtClean="0"/>
              <a:t>GeoPackage</a:t>
            </a:r>
            <a:r>
              <a:rPr lang="fr-FR" sz="1600" b="1" dirty="0" smtClean="0"/>
              <a:t> ou </a:t>
            </a:r>
            <a:r>
              <a:rPr lang="fr-FR" sz="1600" b="1" dirty="0" err="1" smtClean="0"/>
              <a:t>shapefile</a:t>
            </a:r>
            <a:endParaRPr lang="fr-FR" sz="1600" b="1" dirty="0" smtClean="0"/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 smtClean="0"/>
              <a:t>L’annexe B propose une adaptation du modèle conceptuel à </a:t>
            </a:r>
            <a:r>
              <a:rPr lang="fr-FR" sz="1600" dirty="0" err="1" smtClean="0"/>
              <a:t>shapefile</a:t>
            </a:r>
            <a:endParaRPr lang="fr-FR" sz="1600" dirty="0" smtClean="0"/>
          </a:p>
          <a:p>
            <a:pPr marL="537750" lvl="1" indent="-285750" algn="just">
              <a:buFont typeface="Marianne" pitchFamily="50" charset="0"/>
              <a:buChar char="–"/>
            </a:pPr>
            <a:endParaRPr lang="fr-F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700" dirty="0" smtClean="0"/>
              <a:t>Annexe A : conseils de mise en œuvre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600" dirty="0"/>
              <a:t>Quelques explications sur les points pouvant poser problème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lvl="0" algn="just"/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24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99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23528" y="1126876"/>
            <a:ext cx="8424000" cy="5395200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   4 Consignes de test	</a:t>
            </a:r>
            <a:endParaRPr lang="fr-FR" dirty="0"/>
          </a:p>
        </p:txBody>
      </p:sp>
      <p:sp>
        <p:nvSpPr>
          <p:cNvPr id="4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/>
              <a:t>DGALN/IGN</a:t>
            </a:r>
            <a:endParaRPr lang="fr-FR" dirty="0"/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663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points de vigilance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251520" y="1556792"/>
            <a:ext cx="7920880" cy="4796092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Saisie de la géométrie 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/>
              <a:t>Information essentielle pour des données SIG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/>
              <a:t>Contraintes topologiques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Classe Limite Découpage Paysager 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Peut demander un travail significatif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Si possible, tester au moins sur un échantillon </a:t>
            </a:r>
          </a:p>
          <a:p>
            <a:pPr marL="537750" lvl="1" indent="-285750" algn="just">
              <a:buFont typeface="Marianne" pitchFamily="50" charset="0"/>
              <a:buChar char="–"/>
            </a:pPr>
            <a:endParaRPr lang="fr-FR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Les listes de valeurs possibles (code </a:t>
            </a:r>
            <a:r>
              <a:rPr lang="fr-FR" sz="1800" dirty="0" err="1" smtClean="0"/>
              <a:t>lists</a:t>
            </a:r>
            <a:r>
              <a:rPr lang="fr-FR" sz="1800" dirty="0" smtClean="0"/>
              <a:t>)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/>
              <a:t>Typologie nationale des UP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/>
              <a:t>Dynamiques</a:t>
            </a:r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26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23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points de vigilance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323528" y="1772816"/>
            <a:ext cx="7920880" cy="4796092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La classe </a:t>
            </a:r>
            <a:r>
              <a:rPr lang="fr-FR" sz="1800" dirty="0" err="1" smtClean="0"/>
              <a:t>DocumentPaysage</a:t>
            </a:r>
            <a:r>
              <a:rPr lang="fr-FR" sz="1800" dirty="0" smtClean="0"/>
              <a:t> 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Structure de la classe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Sélection des documents</a:t>
            </a:r>
          </a:p>
          <a:p>
            <a:pPr lvl="1" indent="0" algn="just">
              <a:buNone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Choix des attributs « libres » des découpages paysagers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Mots-clefs, description, image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Art de la synthèse </a:t>
            </a:r>
          </a:p>
          <a:p>
            <a:pPr lvl="1" indent="0" algn="just">
              <a:buNone/>
            </a:pPr>
            <a:endParaRPr lang="fr-FR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Le format de diffusion des données </a:t>
            </a:r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27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92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livrables attendus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251520" y="1628800"/>
            <a:ext cx="6768752" cy="4680520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Un rapport de test (formulaire commun)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Les commentaires, demandes de modification sur le standard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 Le jeu de données créé suite aux tests </a:t>
            </a:r>
          </a:p>
          <a:p>
            <a:pPr algn="just"/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Une présentation lors de la réunion du GT sur le bilan des tests 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A partir du rapport de tests</a:t>
            </a:r>
          </a:p>
          <a:p>
            <a:pPr marL="537750" lvl="1" indent="-285750" algn="just"/>
            <a:endParaRPr lang="fr-FR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lvl="0" algn="just"/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28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4" name="Accolade fermante 3"/>
          <p:cNvSpPr/>
          <p:nvPr/>
        </p:nvSpPr>
        <p:spPr>
          <a:xfrm>
            <a:off x="7164288" y="1916832"/>
            <a:ext cx="360040" cy="3528392"/>
          </a:xfrm>
          <a:prstGeom prst="rightBrac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7626768" y="2924944"/>
            <a:ext cx="1368152" cy="1152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À déposer sur le </a:t>
            </a:r>
            <a:r>
              <a:rPr lang="fr-FR" sz="1400" dirty="0" err="1" smtClean="0"/>
              <a:t>GitHub</a:t>
            </a:r>
            <a:r>
              <a:rPr lang="fr-FR" sz="1400" dirty="0" smtClean="0"/>
              <a:t> du GT Paysage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22437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49" y="1388400"/>
            <a:ext cx="8715375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9907" y="847990"/>
            <a:ext cx="8136904" cy="575531"/>
          </a:xfrm>
        </p:spPr>
        <p:txBody>
          <a:bodyPr/>
          <a:lstStyle/>
          <a:p>
            <a:r>
              <a:rPr lang="fr-FR" dirty="0" smtClean="0"/>
              <a:t>Le </a:t>
            </a:r>
            <a:r>
              <a:rPr lang="fr-FR" dirty="0" err="1" smtClean="0"/>
              <a:t>GitHub</a:t>
            </a:r>
            <a:endParaRPr lang="fr-FR" dirty="0"/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3312000" y="240001"/>
            <a:ext cx="5472000" cy="480000"/>
          </a:xfrm>
        </p:spPr>
        <p:txBody>
          <a:bodyPr/>
          <a:lstStyle/>
          <a:p>
            <a:endParaRPr lang="fr-FR" b="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dirty="0">
                <a:solidFill>
                  <a:srgbClr val="000000"/>
                </a:solidFill>
              </a:rPr>
              <a:t>Institut national de l’information  géographique et forestière</a:t>
            </a: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29</a:t>
            </a:fld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1979096" y="1412776"/>
            <a:ext cx="4537119" cy="36004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5796136" y="782005"/>
            <a:ext cx="2520280" cy="3600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Adresse du site</a:t>
            </a:r>
            <a:endParaRPr lang="fr-FR" dirty="0"/>
          </a:p>
        </p:txBody>
      </p:sp>
      <p:sp>
        <p:nvSpPr>
          <p:cNvPr id="15" name="Rectangle à coins arrondis 14"/>
          <p:cNvSpPr/>
          <p:nvPr/>
        </p:nvSpPr>
        <p:spPr>
          <a:xfrm>
            <a:off x="539553" y="4797152"/>
            <a:ext cx="2706158" cy="1368152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3947168" y="5988975"/>
            <a:ext cx="4206611" cy="6840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Les documents de référence pour les tests</a:t>
            </a:r>
            <a:endParaRPr lang="fr-FR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1189192" y="2420888"/>
            <a:ext cx="864096" cy="360040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1106496" y="2924944"/>
            <a:ext cx="2808312" cy="93610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Pour les commentaires, demandes de modification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70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908720"/>
            <a:ext cx="8136904" cy="575531"/>
          </a:xfrm>
        </p:spPr>
        <p:txBody>
          <a:bodyPr/>
          <a:lstStyle/>
          <a:p>
            <a:r>
              <a:rPr lang="fr-FR" dirty="0" smtClean="0"/>
              <a:t>Le fonctionnement du </a:t>
            </a:r>
            <a:r>
              <a:rPr lang="fr-FR" dirty="0" err="1" smtClean="0"/>
              <a:t>GitHub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402856" y="1772816"/>
            <a:ext cx="8712968" cy="3456384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1800" dirty="0" smtClean="0"/>
              <a:t> Structure pour le déroulement des tests en évolution</a:t>
            </a:r>
          </a:p>
          <a:p>
            <a:pPr marL="537750" lvl="1" indent="-285750" algn="just">
              <a:lnSpc>
                <a:spcPct val="150000"/>
              </a:lnSpc>
              <a:spcBef>
                <a:spcPts val="1200"/>
              </a:spcBef>
              <a:buFont typeface="Marianne" pitchFamily="50" charset="0"/>
              <a:buChar char="–"/>
            </a:pPr>
            <a:r>
              <a:rPr lang="fr-FR" sz="1700" dirty="0" smtClean="0"/>
              <a:t>Des répertoires vont être ajoutés pour le dépôt des résultats</a:t>
            </a:r>
          </a:p>
          <a:p>
            <a:pPr marL="537750" lvl="1" indent="-285750" algn="just">
              <a:lnSpc>
                <a:spcPct val="150000"/>
              </a:lnSpc>
              <a:spcBef>
                <a:spcPts val="1200"/>
              </a:spcBef>
              <a:buFont typeface="Marianne" pitchFamily="50" charset="0"/>
              <a:buChar char="–"/>
            </a:pPr>
            <a:endParaRPr lang="fr-FR" sz="1000" dirty="0" smtClean="0"/>
          </a:p>
          <a:p>
            <a:pPr marL="285750" indent="-285750" algn="just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fr-FR" sz="1800" dirty="0" smtClean="0"/>
              <a:t> </a:t>
            </a:r>
            <a:r>
              <a:rPr lang="fr-FR" sz="1800" dirty="0" smtClean="0"/>
              <a:t>Vous allez recevoir une invitation sur le </a:t>
            </a:r>
            <a:r>
              <a:rPr lang="fr-FR" sz="1800" dirty="0" err="1" smtClean="0"/>
              <a:t>GitHub</a:t>
            </a:r>
            <a:r>
              <a:rPr lang="fr-FR" sz="1800" dirty="0" smtClean="0"/>
              <a:t> du standard Paysage</a:t>
            </a:r>
          </a:p>
          <a:p>
            <a:pPr marL="180000" lvl="1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fr-FR" sz="1600" dirty="0" smtClean="0"/>
              <a:t>=&gt; </a:t>
            </a:r>
            <a:r>
              <a:rPr lang="fr-FR" sz="1600" dirty="0" smtClean="0"/>
              <a:t>donner les droits d’écriture (ex: ajout de fichiers, d’issues)</a:t>
            </a:r>
          </a:p>
          <a:p>
            <a:pPr marL="180000" lvl="1" indent="0" algn="just">
              <a:lnSpc>
                <a:spcPct val="150000"/>
              </a:lnSpc>
              <a:spcBef>
                <a:spcPts val="1200"/>
              </a:spcBef>
              <a:buNone/>
            </a:pPr>
            <a:endParaRPr lang="fr-FR" sz="17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3312000" y="240001"/>
            <a:ext cx="5472000" cy="480000"/>
          </a:xfrm>
        </p:spPr>
        <p:txBody>
          <a:bodyPr/>
          <a:lstStyle/>
          <a:p>
            <a:endParaRPr lang="fr-FR" b="0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dirty="0">
                <a:solidFill>
                  <a:srgbClr val="000000"/>
                </a:solidFill>
              </a:rPr>
              <a:t>Institut national de l’information  géographique et forestière</a:t>
            </a: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30</a:t>
            </a:fld>
            <a:endParaRPr lang="fr-F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92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1052736"/>
            <a:ext cx="8136904" cy="575531"/>
          </a:xfrm>
        </p:spPr>
        <p:txBody>
          <a:bodyPr/>
          <a:lstStyle/>
          <a:p>
            <a:r>
              <a:rPr lang="fr-FR" dirty="0" smtClean="0"/>
              <a:t>Les livrables attendus : rapport de tests</a:t>
            </a:r>
            <a:endParaRPr lang="fr-FR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60000" y="6372123"/>
            <a:ext cx="5904000" cy="479556"/>
          </a:xfrm>
        </p:spPr>
        <p:txBody>
          <a:bodyPr/>
          <a:lstStyle/>
          <a:p>
            <a:r>
              <a:rPr lang="fr-FR" smtClean="0">
                <a:solidFill>
                  <a:srgbClr val="000000"/>
                </a:solidFill>
              </a:rPr>
              <a:t>DGALN/IGN</a:t>
            </a:r>
            <a:endParaRPr lang="fr-FR" dirty="0">
              <a:solidFill>
                <a:srgbClr val="000000"/>
              </a:solidFill>
            </a:endParaRPr>
          </a:p>
        </p:txBody>
      </p:sp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264000" y="6372123"/>
            <a:ext cx="1350000" cy="479556"/>
          </a:xfrm>
        </p:spPr>
        <p:txBody>
          <a:bodyPr/>
          <a:lstStyle/>
          <a:p>
            <a:fld id="{733122C9-A0B9-462F-8757-0847AD287B63}" type="slidenum">
              <a:rPr lang="fr-FR" smtClean="0">
                <a:solidFill>
                  <a:srgbClr val="000000"/>
                </a:solidFill>
              </a:rPr>
              <a:pPr/>
              <a:t>31</a:t>
            </a:fld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341" y="2132856"/>
            <a:ext cx="4463063" cy="35425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Espace réservé du contenu 2"/>
          <p:cNvSpPr>
            <a:spLocks noGrp="1"/>
          </p:cNvSpPr>
          <p:nvPr>
            <p:ph sz="quarter" idx="14"/>
          </p:nvPr>
        </p:nvSpPr>
        <p:spPr>
          <a:xfrm>
            <a:off x="251520" y="1920106"/>
            <a:ext cx="4248472" cy="3960440"/>
          </a:xfrm>
          <a:noFill/>
        </p:spPr>
        <p:txBody>
          <a:bodyPr/>
          <a:lstStyle/>
          <a:p>
            <a:pPr algn="ctr"/>
            <a:r>
              <a:rPr lang="fr-FR" sz="1600" b="1" dirty="0" smtClean="0">
                <a:solidFill>
                  <a:srgbClr val="00B050"/>
                </a:solidFill>
              </a:rPr>
              <a:t> </a:t>
            </a:r>
            <a:endParaRPr lang="fr-FR" sz="1600" b="1" dirty="0">
              <a:solidFill>
                <a:srgbClr val="00B05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Une aide au rapportage et à son exploitation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fr-FR" sz="1800" dirty="0" smtClean="0"/>
              <a:t> Contenu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/>
              <a:t>D</a:t>
            </a:r>
            <a:r>
              <a:rPr lang="fr-FR" sz="1700" dirty="0" smtClean="0"/>
              <a:t>escription </a:t>
            </a:r>
            <a:r>
              <a:rPr lang="fr-FR" sz="1700" dirty="0"/>
              <a:t>de </a:t>
            </a:r>
            <a:r>
              <a:rPr lang="fr-FR" sz="1700" dirty="0" smtClean="0"/>
              <a:t>l’atlas (source des données)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Déroulement des tests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Résultats des tests (selon les chapitres de l’atlas et les points de vigilance)</a:t>
            </a:r>
          </a:p>
          <a:p>
            <a:pPr marL="537750" lvl="1" indent="-285750" algn="just">
              <a:buFont typeface="Marianne" pitchFamily="50" charset="0"/>
              <a:buChar char="–"/>
            </a:pPr>
            <a:r>
              <a:rPr lang="fr-FR" sz="1700" dirty="0" smtClean="0"/>
              <a:t>Bilan global</a:t>
            </a:r>
          </a:p>
          <a:p>
            <a:pPr marL="537750" lvl="1" indent="-285750" algn="just">
              <a:buFont typeface="Marianne" pitchFamily="50" charset="0"/>
              <a:buChar char="–"/>
            </a:pPr>
            <a:endParaRPr lang="fr-FR" sz="1700" dirty="0"/>
          </a:p>
          <a:p>
            <a:pPr marL="537750" lvl="1" indent="-285750" algn="just"/>
            <a:endParaRPr lang="fr-FR" sz="17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fr-FR" sz="1800" dirty="0"/>
          </a:p>
          <a:p>
            <a:pPr lvl="0" algn="just"/>
            <a:endParaRPr lang="fr-FR" sz="1800" dirty="0"/>
          </a:p>
          <a:p>
            <a:pPr marL="897750" lvl="3" indent="-285750" algn="just">
              <a:buFont typeface="Courier New" panose="02070309020205020404" pitchFamily="49" charset="0"/>
              <a:buChar char="o"/>
            </a:pPr>
            <a:endParaRPr lang="fr-FR" sz="1200" dirty="0"/>
          </a:p>
          <a:p>
            <a:pPr algn="just"/>
            <a:endParaRPr lang="fr-FR" sz="1600" dirty="0"/>
          </a:p>
          <a:p>
            <a:pPr marL="537750" lvl="1" indent="-285750" algn="just">
              <a:buFontTx/>
              <a:buChar char="-"/>
            </a:pPr>
            <a:endParaRPr lang="fr-FR" sz="1700" dirty="0"/>
          </a:p>
        </p:txBody>
      </p:sp>
    </p:spTree>
    <p:extLst>
      <p:ext uri="{BB962C8B-B14F-4D97-AF65-F5344CB8AC3E}">
        <p14:creationId xmlns:p14="http://schemas.microsoft.com/office/powerpoint/2010/main" val="179096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/>
              <a:t>  Des questions ? </a:t>
            </a:r>
            <a:endParaRPr lang="fr-FR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DGALN/IGN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240D4-81E3-4155-9DC4-ECF57F96C7ED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871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Masque ppt_2020</Template>
  <TotalTime>12286</TotalTime>
  <Words>1571</Words>
  <Application>Microsoft Office PowerPoint</Application>
  <PresentationFormat>Affichage à l'écran (4:3)</PresentationFormat>
  <Paragraphs>352</Paragraphs>
  <Slides>32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32</vt:i4>
      </vt:variant>
    </vt:vector>
  </HeadingPairs>
  <TitlesOfParts>
    <vt:vector size="34" baseType="lpstr">
      <vt:lpstr>ppt_operateurs_marianne</vt:lpstr>
      <vt:lpstr>Office Theme</vt:lpstr>
      <vt:lpstr>Présentation PowerPoint</vt:lpstr>
      <vt:lpstr>ORDRE DU JOUR </vt:lpstr>
      <vt:lpstr>   1 Contexte  </vt:lpstr>
      <vt:lpstr>Contexte de création du Standard </vt:lpstr>
      <vt:lpstr> Les ambitions du GT Standard (réunion) </vt:lpstr>
      <vt:lpstr>La phase d’expérimentation : Les acteurs</vt:lpstr>
      <vt:lpstr>   2  Le  calendrier du standard  </vt:lpstr>
      <vt:lpstr>Etapes de réalisation du chantier national</vt:lpstr>
      <vt:lpstr>Les grandes étapes : déroulement des tests</vt:lpstr>
      <vt:lpstr>Les grandes étapes : finalisation du standard</vt:lpstr>
      <vt:lpstr>   3  Présentation du standard  </vt:lpstr>
      <vt:lpstr>La structure du document  </vt:lpstr>
      <vt:lpstr>Vue générale </vt:lpstr>
      <vt:lpstr>La classe AtlasPaysage</vt:lpstr>
      <vt:lpstr>La structure des découpages paysagers</vt:lpstr>
      <vt:lpstr>Les attributs communs des découpages paysagers</vt:lpstr>
      <vt:lpstr>La typologie des unités paysagères</vt:lpstr>
      <vt:lpstr>Les dynamiques   </vt:lpstr>
      <vt:lpstr>Les limites de découpages paysagers</vt:lpstr>
      <vt:lpstr>Les limites de découpages paysagers</vt:lpstr>
      <vt:lpstr>Les documents paysage</vt:lpstr>
      <vt:lpstr>Les grands principes du modèle</vt:lpstr>
      <vt:lpstr>Les autres préconisations</vt:lpstr>
      <vt:lpstr>Les autres préconisations</vt:lpstr>
      <vt:lpstr>   4 Consignes de test </vt:lpstr>
      <vt:lpstr>Les points de vigilance</vt:lpstr>
      <vt:lpstr>Les points de vigilance</vt:lpstr>
      <vt:lpstr>Les livrables attendus</vt:lpstr>
      <vt:lpstr>Le GitHub</vt:lpstr>
      <vt:lpstr>Le fonctionnement du GitHub</vt:lpstr>
      <vt:lpstr>Les livrables attendus : rapport de tests</vt:lpstr>
      <vt:lpstr>  Des questions ? </vt:lpstr>
    </vt:vector>
  </TitlesOfParts>
  <Company>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Benedicte Maisonneuve</dc:creator>
  <cp:lastModifiedBy>Dominique Laurent</cp:lastModifiedBy>
  <cp:revision>355</cp:revision>
  <cp:lastPrinted>2022-09-15T13:23:27Z</cp:lastPrinted>
  <dcterms:created xsi:type="dcterms:W3CDTF">2022-03-29T09:36:59Z</dcterms:created>
  <dcterms:modified xsi:type="dcterms:W3CDTF">2023-11-16T16:05:24Z</dcterms:modified>
</cp:coreProperties>
</file>